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4ED8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46520"/>
            <a:ext cx="10728655" cy="320040"/>
          </a:xfrm>
          <a:prstGeom prst="rect">
            <a:avLst/>
          </a:prstGeom>
          <a:noFill/>
        </p:spPr>
        <p:txBody>
          <a:bodyPr wrap="square">
            <a:spAutoFit/>
          </a:bodyPr>
          <a:lstStyle/>
          <a:p>
            <a:pPr algn="ctr">
              <a:defRPr sz="850">
                <a:solidFill>
                  <a:srgbClr val="94A3B8"/>
                </a:solidFill>
                <a:latin typeface="Calibri"/>
              </a:defRPr>
            </a:pPr>
            <a:r>
              <a:t>UdyamPath (उद्यमपथ) — Tier-1 Campus Placement Operating System  |  Rahul Sharma  |  Slide 1 of 20</a:t>
            </a:r>
          </a:p>
        </p:txBody>
      </p:sp>
      <p:sp>
        <p:nvSpPr>
          <p:cNvPr id="5" name="Rounded Rectangle 4"/>
          <p:cNvSpPr/>
          <p:nvPr/>
        </p:nvSpPr>
        <p:spPr>
          <a:xfrm>
            <a:off x="1097280" y="914400"/>
            <a:ext cx="9997135" cy="5120640"/>
          </a:xfrm>
          <a:prstGeom prst="roundRect">
            <a:avLst/>
          </a:prstGeom>
          <a:solidFill>
            <a:srgbClr val="14203C"/>
          </a:solidFill>
          <a:ln w="19050">
            <a:solidFill>
              <a:srgbClr val="4ED8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463040" y="1280160"/>
            <a:ext cx="2011680" cy="320040"/>
          </a:xfrm>
          <a:prstGeom prst="roundRect">
            <a:avLst/>
          </a:prstGeom>
          <a:solidFill>
            <a:srgbClr val="2F8F7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00" b="1">
                <a:solidFill>
                  <a:srgbClr val="FFFFFF"/>
                </a:solidFill>
                <a:latin typeface="Calibri"/>
              </a:defRPr>
            </a:pPr>
            <a:r>
              <a:t>ENTERPRISE MERN STACK</a:t>
            </a:r>
          </a:p>
        </p:txBody>
      </p:sp>
      <p:sp>
        <p:nvSpPr>
          <p:cNvPr id="7" name="Rounded Rectangle 6"/>
          <p:cNvSpPr/>
          <p:nvPr/>
        </p:nvSpPr>
        <p:spPr>
          <a:xfrm>
            <a:off x="3657600" y="1280160"/>
            <a:ext cx="2103120" cy="32004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00" b="1">
                <a:solidFill>
                  <a:srgbClr val="FFFFFF"/>
                </a:solidFill>
                <a:latin typeface="Calibri"/>
              </a:defRPr>
            </a:pPr>
            <a:r>
              <a:t>NIRF &amp; NAAC COMPLIANT</a:t>
            </a:r>
          </a:p>
        </p:txBody>
      </p:sp>
      <p:sp>
        <p:nvSpPr>
          <p:cNvPr id="8" name="Rounded Rectangle 7"/>
          <p:cNvSpPr/>
          <p:nvPr/>
        </p:nvSpPr>
        <p:spPr>
          <a:xfrm>
            <a:off x="5943600" y="1280160"/>
            <a:ext cx="1828800" cy="320040"/>
          </a:xfrm>
          <a:prstGeom prst="roundRect">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00" b="1">
                <a:solidFill>
                  <a:srgbClr val="FFFFFF"/>
                </a:solidFill>
                <a:latin typeface="Calibri"/>
              </a:defRPr>
            </a:pPr>
            <a:r>
              <a:t>5-PERSONA RBAC</a:t>
            </a:r>
          </a:p>
        </p:txBody>
      </p:sp>
      <p:sp>
        <p:nvSpPr>
          <p:cNvPr id="9" name="Rounded Rectangle 8"/>
          <p:cNvSpPr/>
          <p:nvPr/>
        </p:nvSpPr>
        <p:spPr>
          <a:xfrm>
            <a:off x="7955279" y="1280160"/>
            <a:ext cx="2651760" cy="32004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00" b="1">
                <a:solidFill>
                  <a:srgbClr val="FFFFFF"/>
                </a:solidFill>
                <a:latin typeface="Calibri"/>
              </a:defRPr>
            </a:pPr>
            <a:r>
              <a:t>ROLE-BASED AUTOMATION</a:t>
            </a:r>
          </a:p>
        </p:txBody>
      </p:sp>
      <p:sp>
        <p:nvSpPr>
          <p:cNvPr id="10" name="TextBox 9"/>
          <p:cNvSpPr txBox="1"/>
          <p:nvPr/>
        </p:nvSpPr>
        <p:spPr>
          <a:xfrm>
            <a:off x="1463040" y="1828800"/>
            <a:ext cx="9265615" cy="2194560"/>
          </a:xfrm>
          <a:prstGeom prst="rect">
            <a:avLst/>
          </a:prstGeom>
          <a:noFill/>
        </p:spPr>
        <p:txBody>
          <a:bodyPr wrap="square">
            <a:spAutoFit/>
          </a:bodyPr>
          <a:lstStyle/>
          <a:p>
            <a:pPr>
              <a:defRPr sz="3600" b="1">
                <a:solidFill>
                  <a:srgbClr val="4ED8B6"/>
                </a:solidFill>
                <a:latin typeface="Calibri"/>
              </a:defRPr>
            </a:pPr>
            <a:r>
              <a:t>UdyamPath (उद्यमपथ)</a:t>
            </a:r>
          </a:p>
          <a:p>
            <a:pPr>
              <a:spcBef>
                <a:spcPts val="600"/>
              </a:spcBef>
              <a:defRPr sz="1600" b="1">
                <a:solidFill>
                  <a:srgbClr val="FFFFFF"/>
                </a:solidFill>
                <a:latin typeface="Calibri"/>
              </a:defRPr>
            </a:pPr>
            <a:r>
              <a:t>From Campus to Career — Next-Generation Tier-1 University Placement Operating System</a:t>
            </a:r>
          </a:p>
          <a:p>
            <a:pPr>
              <a:spcBef>
                <a:spcPts val="800"/>
              </a:spcBef>
              <a:defRPr sz="1100">
                <a:solidFill>
                  <a:srgbClr val="94A3B8"/>
                </a:solidFill>
                <a:latin typeface="Calibri"/>
              </a:defRPr>
            </a:pPr>
            <a:r>
              <a:t>A decoupled, full-stack enterprise platform engineered to streamline candidate discovery, automated eligibility gating, multi-stage drive workflows, and real-time accreditation reporting.</a:t>
            </a:r>
          </a:p>
        </p:txBody>
      </p:sp>
      <p:sp>
        <p:nvSpPr>
          <p:cNvPr id="11" name="Rounded Rectangle 10"/>
          <p:cNvSpPr/>
          <p:nvPr/>
        </p:nvSpPr>
        <p:spPr>
          <a:xfrm>
            <a:off x="1463040" y="4297680"/>
            <a:ext cx="9265615" cy="1280160"/>
          </a:xfrm>
          <a:prstGeom prst="roundRect">
            <a:avLst/>
          </a:prstGeom>
          <a:solidFill>
            <a:srgbClr val="1C2C50"/>
          </a:solidFill>
          <a:ln w="12700">
            <a:solidFill>
              <a:srgbClr val="2F8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645920" y="4389120"/>
            <a:ext cx="8869680" cy="1097280"/>
          </a:xfrm>
          <a:prstGeom prst="rect">
            <a:avLst/>
          </a:prstGeom>
          <a:noFill/>
        </p:spPr>
        <p:txBody>
          <a:bodyPr wrap="square">
            <a:spAutoFit/>
          </a:bodyPr>
          <a:lstStyle/>
          <a:p>
            <a:pPr>
              <a:defRPr sz="1000" b="1">
                <a:solidFill>
                  <a:srgbClr val="4ED8B6"/>
                </a:solidFill>
                <a:latin typeface="Calibri"/>
              </a:defRPr>
            </a:pPr>
            <a:r>
              <a:t>PROJECT METADATA &amp; EVALUATOR BRIEFING</a:t>
            </a:r>
          </a:p>
          <a:p>
            <a:pPr>
              <a:spcBef>
                <a:spcPts val="300"/>
              </a:spcBef>
              <a:defRPr sz="1100" b="1">
                <a:solidFill>
                  <a:srgbClr val="FFFFFF"/>
                </a:solidFill>
                <a:latin typeface="Calibri"/>
              </a:defRPr>
            </a:pPr>
            <a:r>
              <a:t>Author &amp; Project Lead: Rahul Sharma  |  Lead Software Architect &amp; Full-Stack Engineer</a:t>
            </a:r>
          </a:p>
          <a:p>
            <a:pPr>
              <a:spcBef>
                <a:spcPts val="300"/>
              </a:spcBef>
              <a:defRPr sz="1000">
                <a:solidFill>
                  <a:srgbClr val="94A3B8"/>
                </a:solidFill>
                <a:latin typeface="Calibri"/>
              </a:defRPr>
            </a:pPr>
            <a:r>
              <a:t>Core Tech Stack: React 18 SPA + Vite 6 + Express.js REST Engine + MongoDB Atlas Cloud + Docker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F8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46520"/>
            <a:ext cx="10728655" cy="320040"/>
          </a:xfrm>
          <a:prstGeom prst="rect">
            <a:avLst/>
          </a:prstGeom>
          <a:noFill/>
        </p:spPr>
        <p:txBody>
          <a:bodyPr wrap="square">
            <a:spAutoFit/>
          </a:bodyPr>
          <a:lstStyle/>
          <a:p>
            <a:pPr algn="ctr">
              <a:defRPr sz="850">
                <a:solidFill>
                  <a:srgbClr val="64748B"/>
                </a:solidFill>
                <a:latin typeface="Calibri"/>
              </a:defRPr>
            </a:pPr>
            <a:r>
              <a:t>UdyamPath (उद्यमपथ) — Tier-1 Campus Placement Operating System  |  Rahul Sharma  |  Slide 2 of 20</a:t>
            </a:r>
          </a:p>
        </p:txBody>
      </p:sp>
      <p:sp>
        <p:nvSpPr>
          <p:cNvPr id="5" name="TextBox 4"/>
          <p:cNvSpPr txBox="1"/>
          <p:nvPr/>
        </p:nvSpPr>
        <p:spPr>
          <a:xfrm>
            <a:off x="731520" y="320040"/>
            <a:ext cx="10728655" cy="1097280"/>
          </a:xfrm>
          <a:prstGeom prst="rect">
            <a:avLst/>
          </a:prstGeom>
          <a:noFill/>
        </p:spPr>
        <p:txBody>
          <a:bodyPr wrap="square" lIns="0" tIns="0" rIns="0" bIns="0">
            <a:spAutoFit/>
          </a:bodyPr>
          <a:lstStyle/>
          <a:p>
            <a:pPr>
              <a:defRPr sz="950" b="1">
                <a:solidFill>
                  <a:srgbClr val="2F8F78"/>
                </a:solidFill>
                <a:latin typeface="Calibri"/>
              </a:defRPr>
            </a:pPr>
            <a:r>
              <a:t>SYSTEM VISION &amp; ORIGIN</a:t>
            </a:r>
          </a:p>
          <a:p>
            <a:pPr>
              <a:spcBef>
                <a:spcPts val="200"/>
              </a:spcBef>
              <a:defRPr sz="2200" b="1">
                <a:solidFill>
                  <a:srgbClr val="0F172A"/>
                </a:solidFill>
                <a:latin typeface="Calibri"/>
              </a:defRPr>
            </a:pPr>
            <a:r>
              <a:t>Core Philosophy: The UdyamPath Paradigm</a:t>
            </a:r>
          </a:p>
          <a:p>
            <a:pPr>
              <a:spcBef>
                <a:spcPts val="200"/>
              </a:spcBef>
              <a:defRPr sz="1100">
                <a:solidFill>
                  <a:srgbClr val="64748B"/>
                </a:solidFill>
                <a:latin typeface="Calibri"/>
              </a:defRPr>
            </a:pPr>
            <a:r>
              <a:t>Transforming scattered student efforts into clear, verified career trajectories.</a:t>
            </a:r>
          </a:p>
        </p:txBody>
      </p:sp>
      <p:sp>
        <p:nvSpPr>
          <p:cNvPr id="6" name="Rounded Rectangle 5"/>
          <p:cNvSpPr/>
          <p:nvPr/>
        </p:nvSpPr>
        <p:spPr>
          <a:xfrm>
            <a:off x="731520" y="1645920"/>
            <a:ext cx="2468880" cy="2926080"/>
          </a:xfrm>
          <a:prstGeom prst="roundRect">
            <a:avLst/>
          </a:prstGeom>
          <a:solidFill>
            <a:srgbClr val="FFFFFF"/>
          </a:solidFill>
          <a:ln w="19050">
            <a:solidFill>
              <a:srgbClr val="2F8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45920"/>
            <a:ext cx="2468880" cy="548640"/>
          </a:xfrm>
          <a:prstGeom prst="rect">
            <a:avLst/>
          </a:prstGeom>
          <a:solidFill>
            <a:srgbClr val="E6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755648"/>
            <a:ext cx="2286000" cy="365760"/>
          </a:xfrm>
          <a:prstGeom prst="rect">
            <a:avLst/>
          </a:prstGeom>
          <a:noFill/>
        </p:spPr>
        <p:txBody>
          <a:bodyPr wrap="none">
            <a:spAutoFit/>
          </a:bodyPr>
          <a:lstStyle/>
          <a:p>
            <a:pPr algn="ctr">
              <a:defRPr sz="1100" b="1">
                <a:solidFill>
                  <a:srgbClr val="2F8F78"/>
                </a:solidFill>
                <a:latin typeface="Calibri"/>
              </a:defRPr>
            </a:pPr>
            <a:r>
              <a:t>1. UDYAM (उद्यम)</a:t>
            </a:r>
          </a:p>
        </p:txBody>
      </p:sp>
      <p:sp>
        <p:nvSpPr>
          <p:cNvPr id="9" name="TextBox 8"/>
          <p:cNvSpPr txBox="1"/>
          <p:nvPr/>
        </p:nvSpPr>
        <p:spPr>
          <a:xfrm>
            <a:off x="868680" y="2377440"/>
            <a:ext cx="2194560" cy="2011680"/>
          </a:xfrm>
          <a:prstGeom prst="rect">
            <a:avLst/>
          </a:prstGeom>
          <a:noFill/>
        </p:spPr>
        <p:txBody>
          <a:bodyPr wrap="square">
            <a:spAutoFit/>
          </a:bodyPr>
          <a:lstStyle/>
          <a:p>
            <a:pPr>
              <a:defRPr sz="1400" b="1">
                <a:solidFill>
                  <a:srgbClr val="0F172A"/>
                </a:solidFill>
                <a:latin typeface="Calibri"/>
              </a:defRPr>
            </a:pPr>
            <a:r>
              <a:t>Purposeful Effort</a:t>
            </a:r>
          </a:p>
          <a:p>
            <a:pPr>
              <a:spcBef>
                <a:spcPts val="800"/>
              </a:spcBef>
              <a:defRPr sz="1000">
                <a:solidFill>
                  <a:srgbClr val="64748B"/>
                </a:solidFill>
                <a:latin typeface="Calibri"/>
              </a:defRPr>
            </a:pPr>
            <a:r>
              <a:t>Rigorous academic preparation, coding practice, projects, and skill acquisition.</a:t>
            </a:r>
          </a:p>
        </p:txBody>
      </p:sp>
      <p:sp>
        <p:nvSpPr>
          <p:cNvPr id="10" name="Right Arrow 9"/>
          <p:cNvSpPr/>
          <p:nvPr/>
        </p:nvSpPr>
        <p:spPr>
          <a:xfrm>
            <a:off x="3246120" y="2834640"/>
            <a:ext cx="182880" cy="320040"/>
          </a:xfrm>
          <a:prstGeom prst="rightArrow">
            <a:avLst/>
          </a:prstGeom>
          <a:solidFill>
            <a:srgbClr val="2F8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474720" y="1645920"/>
            <a:ext cx="2468880" cy="2926080"/>
          </a:xfrm>
          <a:prstGeom prst="roundRect">
            <a:avLst/>
          </a:prstGeom>
          <a:solidFill>
            <a:srgbClr val="FFFFFF"/>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74720" y="1645920"/>
            <a:ext cx="2468880" cy="548640"/>
          </a:xfrm>
          <a:prstGeom prst="rect">
            <a:avLst/>
          </a:prstGeom>
          <a:solidFill>
            <a:srgbClr val="E0E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66160" y="1755648"/>
            <a:ext cx="2286000" cy="365760"/>
          </a:xfrm>
          <a:prstGeom prst="rect">
            <a:avLst/>
          </a:prstGeom>
          <a:noFill/>
        </p:spPr>
        <p:txBody>
          <a:bodyPr wrap="none">
            <a:spAutoFit/>
          </a:bodyPr>
          <a:lstStyle/>
          <a:p>
            <a:pPr algn="ctr">
              <a:defRPr sz="1100" b="1">
                <a:solidFill>
                  <a:srgbClr val="6366F1"/>
                </a:solidFill>
                <a:latin typeface="Calibri"/>
              </a:defRPr>
            </a:pPr>
            <a:r>
              <a:t>2. PATH (पथ)</a:t>
            </a:r>
          </a:p>
        </p:txBody>
      </p:sp>
      <p:sp>
        <p:nvSpPr>
          <p:cNvPr id="14" name="TextBox 13"/>
          <p:cNvSpPr txBox="1"/>
          <p:nvPr/>
        </p:nvSpPr>
        <p:spPr>
          <a:xfrm>
            <a:off x="3611880" y="2377440"/>
            <a:ext cx="2194560" cy="2011680"/>
          </a:xfrm>
          <a:prstGeom prst="rect">
            <a:avLst/>
          </a:prstGeom>
          <a:noFill/>
        </p:spPr>
        <p:txBody>
          <a:bodyPr wrap="square">
            <a:spAutoFit/>
          </a:bodyPr>
          <a:lstStyle/>
          <a:p>
            <a:pPr>
              <a:defRPr sz="1400" b="1">
                <a:solidFill>
                  <a:srgbClr val="0F172A"/>
                </a:solidFill>
                <a:latin typeface="Calibri"/>
              </a:defRPr>
            </a:pPr>
            <a:r>
              <a:t>Clear Trajectory</a:t>
            </a:r>
          </a:p>
          <a:p>
            <a:pPr>
              <a:spcBef>
                <a:spcPts val="800"/>
              </a:spcBef>
              <a:defRPr sz="1000">
                <a:solidFill>
                  <a:srgbClr val="64748B"/>
                </a:solidFill>
                <a:latin typeface="Calibri"/>
              </a:defRPr>
            </a:pPr>
            <a:r>
              <a:t>Automated eligibility filtering, verified academic records, and transparent tracking.</a:t>
            </a:r>
          </a:p>
        </p:txBody>
      </p:sp>
      <p:sp>
        <p:nvSpPr>
          <p:cNvPr id="15" name="Right Arrow 14"/>
          <p:cNvSpPr/>
          <p:nvPr/>
        </p:nvSpPr>
        <p:spPr>
          <a:xfrm>
            <a:off x="5989320" y="2834640"/>
            <a:ext cx="182880" cy="320040"/>
          </a:xfrm>
          <a:prstGeom prst="rightArrow">
            <a:avLst/>
          </a:prstGeom>
          <a:solidFill>
            <a:srgbClr val="2F8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17920" y="1645920"/>
            <a:ext cx="2468880" cy="2926080"/>
          </a:xfrm>
          <a:prstGeom prst="roundRect">
            <a:avLst/>
          </a:prstGeom>
          <a:solidFill>
            <a:srgbClr val="FFFF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17920" y="1645920"/>
            <a:ext cx="2468880" cy="548640"/>
          </a:xfrm>
          <a:prstGeom prst="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9360" y="1755648"/>
            <a:ext cx="2286000" cy="365760"/>
          </a:xfrm>
          <a:prstGeom prst="rect">
            <a:avLst/>
          </a:prstGeom>
          <a:noFill/>
        </p:spPr>
        <p:txBody>
          <a:bodyPr wrap="none">
            <a:spAutoFit/>
          </a:bodyPr>
          <a:lstStyle/>
          <a:p>
            <a:pPr algn="ctr">
              <a:defRPr sz="1100" b="1">
                <a:solidFill>
                  <a:srgbClr val="F59E0B"/>
                </a:solidFill>
                <a:latin typeface="Calibri"/>
              </a:defRPr>
            </a:pPr>
            <a:r>
              <a:t>3. OPPORTUNITY</a:t>
            </a:r>
          </a:p>
        </p:txBody>
      </p:sp>
      <p:sp>
        <p:nvSpPr>
          <p:cNvPr id="19" name="TextBox 18"/>
          <p:cNvSpPr txBox="1"/>
          <p:nvPr/>
        </p:nvSpPr>
        <p:spPr>
          <a:xfrm>
            <a:off x="6355080" y="2377440"/>
            <a:ext cx="2194560" cy="2011680"/>
          </a:xfrm>
          <a:prstGeom prst="rect">
            <a:avLst/>
          </a:prstGeom>
          <a:noFill/>
        </p:spPr>
        <p:txBody>
          <a:bodyPr wrap="square">
            <a:spAutoFit/>
          </a:bodyPr>
          <a:lstStyle/>
          <a:p>
            <a:pPr>
              <a:defRPr sz="1400" b="1">
                <a:solidFill>
                  <a:srgbClr val="0F172A"/>
                </a:solidFill>
                <a:latin typeface="Calibri"/>
              </a:defRPr>
            </a:pPr>
            <a:r>
              <a:t>Targeted Drives</a:t>
            </a:r>
          </a:p>
          <a:p>
            <a:pPr>
              <a:spcBef>
                <a:spcPts val="800"/>
              </a:spcBef>
              <a:defRPr sz="1000">
                <a:solidFill>
                  <a:srgbClr val="64748B"/>
                </a:solidFill>
                <a:latin typeface="Calibri"/>
              </a:defRPr>
            </a:pPr>
            <a:r>
              <a:t>Corporate recruiter job postings, multi-stage screening, and structured interviews.</a:t>
            </a:r>
          </a:p>
        </p:txBody>
      </p:sp>
      <p:sp>
        <p:nvSpPr>
          <p:cNvPr id="20" name="Right Arrow 19"/>
          <p:cNvSpPr/>
          <p:nvPr/>
        </p:nvSpPr>
        <p:spPr>
          <a:xfrm>
            <a:off x="8732520" y="2834640"/>
            <a:ext cx="182880" cy="320040"/>
          </a:xfrm>
          <a:prstGeom prst="rightArrow">
            <a:avLst/>
          </a:prstGeom>
          <a:solidFill>
            <a:srgbClr val="2F8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961120" y="1645920"/>
            <a:ext cx="2468880" cy="292608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961120" y="1645920"/>
            <a:ext cx="2468880" cy="548640"/>
          </a:xfrm>
          <a:prstGeom prst="rect">
            <a:avLst/>
          </a:prstGeom>
          <a:solidFill>
            <a:srgbClr val="D1FA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052560" y="1755648"/>
            <a:ext cx="2286000" cy="365760"/>
          </a:xfrm>
          <a:prstGeom prst="rect">
            <a:avLst/>
          </a:prstGeom>
          <a:noFill/>
        </p:spPr>
        <p:txBody>
          <a:bodyPr wrap="none">
            <a:spAutoFit/>
          </a:bodyPr>
          <a:lstStyle/>
          <a:p>
            <a:pPr algn="ctr">
              <a:defRPr sz="1100" b="1">
                <a:solidFill>
                  <a:srgbClr val="10B981"/>
                </a:solidFill>
                <a:latin typeface="Calibri"/>
              </a:defRPr>
            </a:pPr>
            <a:r>
              <a:t>4. CAREER</a:t>
            </a:r>
          </a:p>
        </p:txBody>
      </p:sp>
      <p:sp>
        <p:nvSpPr>
          <p:cNvPr id="24" name="TextBox 23"/>
          <p:cNvSpPr txBox="1"/>
          <p:nvPr/>
        </p:nvSpPr>
        <p:spPr>
          <a:xfrm>
            <a:off x="9098280" y="2377440"/>
            <a:ext cx="2194560" cy="2011680"/>
          </a:xfrm>
          <a:prstGeom prst="rect">
            <a:avLst/>
          </a:prstGeom>
          <a:noFill/>
        </p:spPr>
        <p:txBody>
          <a:bodyPr wrap="square">
            <a:spAutoFit/>
          </a:bodyPr>
          <a:lstStyle/>
          <a:p>
            <a:pPr>
              <a:defRPr sz="1400" b="1">
                <a:solidFill>
                  <a:srgbClr val="0F172A"/>
                </a:solidFill>
                <a:latin typeface="Calibri"/>
              </a:defRPr>
            </a:pPr>
            <a:r>
              <a:t>Empowered Future</a:t>
            </a:r>
          </a:p>
          <a:p>
            <a:pPr>
              <a:spcBef>
                <a:spcPts val="800"/>
              </a:spcBef>
              <a:defRPr sz="1000">
                <a:solidFill>
                  <a:srgbClr val="64748B"/>
                </a:solidFill>
                <a:latin typeface="Calibri"/>
              </a:defRPr>
            </a:pPr>
            <a:r>
              <a:t>Digital offer letters, verified placement status, and automated NIRF accreditation.</a:t>
            </a:r>
          </a:p>
        </p:txBody>
      </p:sp>
      <p:sp>
        <p:nvSpPr>
          <p:cNvPr id="25" name="Rounded Rectangle 24"/>
          <p:cNvSpPr/>
          <p:nvPr/>
        </p:nvSpPr>
        <p:spPr>
          <a:xfrm>
            <a:off x="731520" y="4846320"/>
            <a:ext cx="10728655" cy="1280160"/>
          </a:xfrm>
          <a:prstGeom prst="roundRect">
            <a:avLst/>
          </a:prstGeom>
          <a:solidFill>
            <a:srgbClr val="E6F6F1"/>
          </a:solidFill>
          <a:ln w="12700">
            <a:solidFill>
              <a:srgbClr val="2F8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4937760"/>
            <a:ext cx="10362895" cy="1005840"/>
          </a:xfrm>
          <a:prstGeom prst="rect">
            <a:avLst/>
          </a:prstGeom>
          <a:noFill/>
        </p:spPr>
        <p:txBody>
          <a:bodyPr wrap="square">
            <a:spAutoFit/>
          </a:bodyPr>
          <a:lstStyle/>
          <a:p>
            <a:pPr>
              <a:defRPr sz="1000" b="1">
                <a:solidFill>
                  <a:srgbClr val="2F8F78"/>
                </a:solidFill>
                <a:latin typeface="Calibri"/>
              </a:defRPr>
            </a:pPr>
            <a:r>
              <a:t>EXECUTIVE VISION STATEMENT</a:t>
            </a:r>
          </a:p>
          <a:p>
            <a:pPr>
              <a:spcBef>
                <a:spcPts val="300"/>
              </a:spcBef>
              <a:defRPr sz="1050">
                <a:solidFill>
                  <a:srgbClr val="0F172A"/>
                </a:solidFill>
                <a:latin typeface="Calibri"/>
              </a:defRPr>
            </a:pPr>
            <a:r>
              <a:t>UdyamPath resolves the fundamental disconnect in institutional hiring by automating the entire lifecycle from drive announcement to offer acceptance. It eliminates manual spreadsheet errors, enforces strict academic integrity, and delivers sub-second accreditation intelligence for university leadership.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F8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46520"/>
            <a:ext cx="10728655" cy="320040"/>
          </a:xfrm>
          <a:prstGeom prst="rect">
            <a:avLst/>
          </a:prstGeom>
          <a:noFill/>
        </p:spPr>
        <p:txBody>
          <a:bodyPr wrap="square">
            <a:spAutoFit/>
          </a:bodyPr>
          <a:lstStyle/>
          <a:p>
            <a:pPr algn="ctr">
              <a:defRPr sz="850">
                <a:solidFill>
                  <a:srgbClr val="64748B"/>
                </a:solidFill>
                <a:latin typeface="Calibri"/>
              </a:defRPr>
            </a:pPr>
            <a:r>
              <a:t>UdyamPath (उद्यमपथ) — Tier-1 Campus Placement Operating System  |  Rahul Sharma  |  Slide 3 of 20</a:t>
            </a:r>
          </a:p>
        </p:txBody>
      </p:sp>
      <p:sp>
        <p:nvSpPr>
          <p:cNvPr id="5" name="TextBox 4"/>
          <p:cNvSpPr txBox="1"/>
          <p:nvPr/>
        </p:nvSpPr>
        <p:spPr>
          <a:xfrm>
            <a:off x="731520" y="320040"/>
            <a:ext cx="10728655" cy="1097280"/>
          </a:xfrm>
          <a:prstGeom prst="rect">
            <a:avLst/>
          </a:prstGeom>
          <a:noFill/>
        </p:spPr>
        <p:txBody>
          <a:bodyPr wrap="square" lIns="0" tIns="0" rIns="0" bIns="0">
            <a:spAutoFit/>
          </a:bodyPr>
          <a:lstStyle/>
          <a:p>
            <a:pPr>
              <a:defRPr sz="950" b="1">
                <a:solidFill>
                  <a:srgbClr val="2F8F78"/>
                </a:solidFill>
                <a:latin typeface="Calibri"/>
              </a:defRPr>
            </a:pPr>
            <a:r>
              <a:t>MARKET NEED &amp; PAIN POINTS</a:t>
            </a:r>
          </a:p>
          <a:p>
            <a:pPr>
              <a:spcBef>
                <a:spcPts val="200"/>
              </a:spcBef>
              <a:defRPr sz="2200" b="1">
                <a:solidFill>
                  <a:srgbClr val="0F172A"/>
                </a:solidFill>
                <a:latin typeface="Calibri"/>
              </a:defRPr>
            </a:pPr>
            <a:r>
              <a:t>Problem Statement: The Crisis in University Placements</a:t>
            </a:r>
          </a:p>
          <a:p>
            <a:pPr>
              <a:spcBef>
                <a:spcPts val="200"/>
              </a:spcBef>
              <a:defRPr sz="1100">
                <a:solidFill>
                  <a:srgbClr val="64748B"/>
                </a:solidFill>
                <a:latin typeface="Calibri"/>
              </a:defRPr>
            </a:pPr>
            <a:r>
              <a:t>Manual spreadsheets and fragmented communication cripple campus hiring.</a:t>
            </a:r>
          </a:p>
        </p:txBody>
      </p:sp>
      <p:sp>
        <p:nvSpPr>
          <p:cNvPr id="6" name="Rounded Rectangle 5"/>
          <p:cNvSpPr/>
          <p:nvPr/>
        </p:nvSpPr>
        <p:spPr>
          <a:xfrm>
            <a:off x="731520" y="1645920"/>
            <a:ext cx="5242255" cy="20574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45920"/>
            <a:ext cx="5242255" cy="7315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10512"/>
            <a:ext cx="4876495" cy="1783080"/>
          </a:xfrm>
          <a:prstGeom prst="rect">
            <a:avLst/>
          </a:prstGeom>
          <a:noFill/>
        </p:spPr>
        <p:txBody>
          <a:bodyPr wrap="square" lIns="0" tIns="0">
            <a:spAutoFit/>
          </a:bodyPr>
          <a:lstStyle/>
          <a:p>
            <a:pPr>
              <a:defRPr sz="850" b="1">
                <a:solidFill>
                  <a:srgbClr val="EF4444"/>
                </a:solidFill>
                <a:latin typeface="Calibri"/>
              </a:defRPr>
            </a:pPr>
            <a:r>
              <a:t>CRITICAL BOTTLENECK #1</a:t>
            </a:r>
          </a:p>
          <a:p>
            <a:pPr>
              <a:spcBef>
                <a:spcPts val="300"/>
              </a:spcBef>
              <a:defRPr sz="1350" b="1">
                <a:solidFill>
                  <a:srgbClr val="0F172A"/>
                </a:solidFill>
                <a:latin typeface="Calibri"/>
              </a:defRPr>
            </a:pPr>
            <a:r>
              <a:t>Spreadsheet Fragmentation &amp; Data Drift</a:t>
            </a:r>
          </a:p>
          <a:p>
            <a:pPr>
              <a:spcBef>
                <a:spcPts val="500"/>
              </a:spcBef>
              <a:defRPr sz="950">
                <a:solidFill>
                  <a:srgbClr val="0F172A"/>
                </a:solidFill>
                <a:latin typeface="Calibri"/>
              </a:defRPr>
            </a:pPr>
            <a:r>
              <a:t>▪  TPOs maintain 50+ unlinked Google Sheets per placement season.</a:t>
            </a:r>
          </a:p>
          <a:p>
            <a:pPr>
              <a:spcBef>
                <a:spcPts val="500"/>
              </a:spcBef>
              <a:defRPr sz="950">
                <a:solidFill>
                  <a:srgbClr val="0F172A"/>
                </a:solidFill>
                <a:latin typeface="Calibri"/>
              </a:defRPr>
            </a:pPr>
            <a:r>
              <a:t>▪  High risk of data corruption, accidental overwrites, and missing student entries.</a:t>
            </a:r>
          </a:p>
          <a:p>
            <a:pPr>
              <a:spcBef>
                <a:spcPts val="500"/>
              </a:spcBef>
              <a:defRPr sz="950">
                <a:solidFill>
                  <a:srgbClr val="0F172A"/>
                </a:solidFill>
                <a:latin typeface="Calibri"/>
              </a:defRPr>
            </a:pPr>
            <a:r>
              <a:t>▪  No single source of truth across departments, leading to massive administrative overhead.</a:t>
            </a:r>
          </a:p>
        </p:txBody>
      </p:sp>
      <p:sp>
        <p:nvSpPr>
          <p:cNvPr id="9" name="Rounded Rectangle 8"/>
          <p:cNvSpPr/>
          <p:nvPr/>
        </p:nvSpPr>
        <p:spPr>
          <a:xfrm>
            <a:off x="6217920" y="1645920"/>
            <a:ext cx="5242255" cy="20574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1645920"/>
            <a:ext cx="5242255"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810512"/>
            <a:ext cx="4876495" cy="1783080"/>
          </a:xfrm>
          <a:prstGeom prst="rect">
            <a:avLst/>
          </a:prstGeom>
          <a:noFill/>
        </p:spPr>
        <p:txBody>
          <a:bodyPr wrap="square" lIns="0" tIns="0">
            <a:spAutoFit/>
          </a:bodyPr>
          <a:lstStyle/>
          <a:p>
            <a:pPr>
              <a:defRPr sz="850" b="1">
                <a:solidFill>
                  <a:srgbClr val="F59E0B"/>
                </a:solidFill>
                <a:latin typeface="Calibri"/>
              </a:defRPr>
            </a:pPr>
            <a:r>
              <a:t>CRITICAL BOTTLENECK #2</a:t>
            </a:r>
          </a:p>
          <a:p>
            <a:pPr>
              <a:spcBef>
                <a:spcPts val="300"/>
              </a:spcBef>
              <a:defRPr sz="1350" b="1">
                <a:solidFill>
                  <a:srgbClr val="0F172A"/>
                </a:solidFill>
                <a:latin typeface="Calibri"/>
              </a:defRPr>
            </a:pPr>
            <a:r>
              <a:t>Unverified CGPAs &amp; Backlog Fraud</a:t>
            </a:r>
          </a:p>
          <a:p>
            <a:pPr>
              <a:spcBef>
                <a:spcPts val="500"/>
              </a:spcBef>
              <a:defRPr sz="950">
                <a:solidFill>
                  <a:srgbClr val="0F172A"/>
                </a:solidFill>
                <a:latin typeface="Calibri"/>
              </a:defRPr>
            </a:pPr>
            <a:r>
              <a:t>▪  Students self-report inflated CGPAs or conceal active academic backlogs.</a:t>
            </a:r>
          </a:p>
          <a:p>
            <a:pPr>
              <a:spcBef>
                <a:spcPts val="500"/>
              </a:spcBef>
              <a:defRPr sz="950">
                <a:solidFill>
                  <a:srgbClr val="0F172A"/>
                </a:solidFill>
                <a:latin typeface="Calibri"/>
              </a:defRPr>
            </a:pPr>
            <a:r>
              <a:t>▪  TPOs waste 100+ hours manually cross-checking university marksheets against company cutoffs.</a:t>
            </a:r>
          </a:p>
          <a:p>
            <a:pPr>
              <a:spcBef>
                <a:spcPts val="500"/>
              </a:spcBef>
              <a:defRPr sz="950">
                <a:solidFill>
                  <a:srgbClr val="0F172A"/>
                </a:solidFill>
                <a:latin typeface="Calibri"/>
              </a:defRPr>
            </a:pPr>
            <a:r>
              <a:t>▪  Recruiters disqualify entire colleges when ineligible candidates slip into interviews.</a:t>
            </a:r>
          </a:p>
        </p:txBody>
      </p:sp>
      <p:sp>
        <p:nvSpPr>
          <p:cNvPr id="12" name="Rounded Rectangle 11"/>
          <p:cNvSpPr/>
          <p:nvPr/>
        </p:nvSpPr>
        <p:spPr>
          <a:xfrm>
            <a:off x="731520" y="3931920"/>
            <a:ext cx="5242255" cy="20574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3931920"/>
            <a:ext cx="5242255" cy="7315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096512"/>
            <a:ext cx="4876495" cy="1783080"/>
          </a:xfrm>
          <a:prstGeom prst="rect">
            <a:avLst/>
          </a:prstGeom>
          <a:noFill/>
        </p:spPr>
        <p:txBody>
          <a:bodyPr wrap="square" lIns="0" tIns="0">
            <a:spAutoFit/>
          </a:bodyPr>
          <a:lstStyle/>
          <a:p>
            <a:pPr>
              <a:defRPr sz="850" b="1">
                <a:solidFill>
                  <a:srgbClr val="EF4444"/>
                </a:solidFill>
                <a:latin typeface="Calibri"/>
              </a:defRPr>
            </a:pPr>
            <a:r>
              <a:t>CRITICAL BOTTLENECK #3</a:t>
            </a:r>
          </a:p>
          <a:p>
            <a:pPr>
              <a:spcBef>
                <a:spcPts val="300"/>
              </a:spcBef>
              <a:defRPr sz="1350" b="1">
                <a:solidFill>
                  <a:srgbClr val="0F172A"/>
                </a:solidFill>
                <a:latin typeface="Calibri"/>
              </a:defRPr>
            </a:pPr>
            <a:r>
              <a:t>Accreditation Reporting Paralysis (NIRF / NAAC)</a:t>
            </a:r>
          </a:p>
          <a:p>
            <a:pPr>
              <a:spcBef>
                <a:spcPts val="500"/>
              </a:spcBef>
              <a:defRPr sz="950">
                <a:solidFill>
                  <a:srgbClr val="0F172A"/>
                </a:solidFill>
                <a:latin typeface="Calibri"/>
              </a:defRPr>
            </a:pPr>
            <a:r>
              <a:t>▪  Compiling NIRF Table 5.1 and NAAC SSR Criteria 5.2.1 takes 3 to 4 weeks of manual labor.</a:t>
            </a:r>
          </a:p>
          <a:p>
            <a:pPr>
              <a:spcBef>
                <a:spcPts val="500"/>
              </a:spcBef>
              <a:defRPr sz="950">
                <a:solidFill>
                  <a:srgbClr val="0F172A"/>
                </a:solidFill>
                <a:latin typeface="Calibri"/>
              </a:defRPr>
            </a:pPr>
            <a:r>
              <a:t>▪  Calculating true median salary across 10+ branches leads to frequent statistical errors.</a:t>
            </a:r>
          </a:p>
          <a:p>
            <a:pPr>
              <a:spcBef>
                <a:spcPts val="500"/>
              </a:spcBef>
              <a:defRPr sz="950">
                <a:solidFill>
                  <a:srgbClr val="0F172A"/>
                </a:solidFill>
                <a:latin typeface="Calibri"/>
              </a:defRPr>
            </a:pPr>
            <a:r>
              <a:t>▪  Institutional rankings drop due to delayed or unverified placement audit submissions.</a:t>
            </a:r>
          </a:p>
        </p:txBody>
      </p:sp>
      <p:sp>
        <p:nvSpPr>
          <p:cNvPr id="15" name="Rounded Rectangle 14"/>
          <p:cNvSpPr/>
          <p:nvPr/>
        </p:nvSpPr>
        <p:spPr>
          <a:xfrm>
            <a:off x="6217920" y="3931920"/>
            <a:ext cx="5242255" cy="20574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3931920"/>
            <a:ext cx="5242255"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4096512"/>
            <a:ext cx="4876495" cy="1783080"/>
          </a:xfrm>
          <a:prstGeom prst="rect">
            <a:avLst/>
          </a:prstGeom>
          <a:noFill/>
        </p:spPr>
        <p:txBody>
          <a:bodyPr wrap="square" lIns="0" tIns="0">
            <a:spAutoFit/>
          </a:bodyPr>
          <a:lstStyle/>
          <a:p>
            <a:pPr>
              <a:defRPr sz="850" b="1">
                <a:solidFill>
                  <a:srgbClr val="F59E0B"/>
                </a:solidFill>
                <a:latin typeface="Calibri"/>
              </a:defRPr>
            </a:pPr>
            <a:r>
              <a:t>CRITICAL BOTTLENECK #4</a:t>
            </a:r>
          </a:p>
          <a:p>
            <a:pPr>
              <a:spcBef>
                <a:spcPts val="300"/>
              </a:spcBef>
              <a:defRPr sz="1350" b="1">
                <a:solidFill>
                  <a:srgbClr val="0F172A"/>
                </a:solidFill>
                <a:latin typeface="Calibri"/>
              </a:defRPr>
            </a:pPr>
            <a:r>
              <a:t>Black-Box Communication for Students</a:t>
            </a:r>
          </a:p>
          <a:p>
            <a:pPr>
              <a:spcBef>
                <a:spcPts val="500"/>
              </a:spcBef>
              <a:defRPr sz="950">
                <a:solidFill>
                  <a:srgbClr val="0F172A"/>
                </a:solidFill>
                <a:latin typeface="Calibri"/>
              </a:defRPr>
            </a:pPr>
            <a:r>
              <a:t>▪  Students receive zero visibility into application status or shortlisting progress.</a:t>
            </a:r>
          </a:p>
          <a:p>
            <a:pPr>
              <a:spcBef>
                <a:spcPts val="500"/>
              </a:spcBef>
              <a:defRPr sz="950">
                <a:solidFill>
                  <a:srgbClr val="0F172A"/>
                </a:solidFill>
                <a:latin typeface="Calibri"/>
              </a:defRPr>
            </a:pPr>
            <a:r>
              <a:t>▪  Interview schedules sent via disorganized WhatsApp groups cause missed interview slots.</a:t>
            </a:r>
          </a:p>
          <a:p>
            <a:pPr>
              <a:spcBef>
                <a:spcPts val="500"/>
              </a:spcBef>
              <a:defRPr sz="950">
                <a:solidFill>
                  <a:srgbClr val="0F172A"/>
                </a:solidFill>
                <a:latin typeface="Calibri"/>
              </a:defRPr>
            </a:pPr>
            <a:r>
              <a:t>▪  Recruiters struggle with manual attendance rosters and slow offer release cycles.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F8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46520"/>
            <a:ext cx="10728655" cy="320040"/>
          </a:xfrm>
          <a:prstGeom prst="rect">
            <a:avLst/>
          </a:prstGeom>
          <a:noFill/>
        </p:spPr>
        <p:txBody>
          <a:bodyPr wrap="square">
            <a:spAutoFit/>
          </a:bodyPr>
          <a:lstStyle/>
          <a:p>
            <a:pPr algn="ctr">
              <a:defRPr sz="850">
                <a:solidFill>
                  <a:srgbClr val="64748B"/>
                </a:solidFill>
                <a:latin typeface="Calibri"/>
              </a:defRPr>
            </a:pPr>
            <a:r>
              <a:t>UdyamPath (उद्यमपथ) — Tier-1 Campus Placement Operating System  |  Rahul Sharma  |  Slide 4 of 20</a:t>
            </a:r>
          </a:p>
        </p:txBody>
      </p:sp>
      <p:sp>
        <p:nvSpPr>
          <p:cNvPr id="5" name="TextBox 4"/>
          <p:cNvSpPr txBox="1"/>
          <p:nvPr/>
        </p:nvSpPr>
        <p:spPr>
          <a:xfrm>
            <a:off x="731520" y="320040"/>
            <a:ext cx="10728655" cy="1097280"/>
          </a:xfrm>
          <a:prstGeom prst="rect">
            <a:avLst/>
          </a:prstGeom>
          <a:noFill/>
        </p:spPr>
        <p:txBody>
          <a:bodyPr wrap="square" lIns="0" tIns="0" rIns="0" bIns="0">
            <a:spAutoFit/>
          </a:bodyPr>
          <a:lstStyle/>
          <a:p>
            <a:pPr>
              <a:defRPr sz="950" b="1">
                <a:solidFill>
                  <a:srgbClr val="2F8F78"/>
                </a:solidFill>
                <a:latin typeface="Calibri"/>
              </a:defRPr>
            </a:pPr>
            <a:r>
              <a:t>ARCHITECTURAL SOLUTION</a:t>
            </a:r>
          </a:p>
          <a:p>
            <a:pPr>
              <a:spcBef>
                <a:spcPts val="200"/>
              </a:spcBef>
              <a:defRPr sz="2200" b="1">
                <a:solidFill>
                  <a:srgbClr val="0F172A"/>
                </a:solidFill>
                <a:latin typeface="Calibri"/>
              </a:defRPr>
            </a:pPr>
            <a:r>
              <a:t>The Solution: UdyamPath Enterprise Platform</a:t>
            </a:r>
          </a:p>
          <a:p>
            <a:pPr>
              <a:spcBef>
                <a:spcPts val="200"/>
              </a:spcBef>
              <a:defRPr sz="1100">
                <a:solidFill>
                  <a:srgbClr val="64748B"/>
                </a:solidFill>
                <a:latin typeface="Calibri"/>
              </a:defRPr>
            </a:pPr>
            <a:r>
              <a:t>A unified, automated, and mathematically verified placement ecosystem.</a:t>
            </a:r>
          </a:p>
        </p:txBody>
      </p:sp>
      <p:sp>
        <p:nvSpPr>
          <p:cNvPr id="6" name="Rounded Rectangle 5"/>
          <p:cNvSpPr/>
          <p:nvPr/>
        </p:nvSpPr>
        <p:spPr>
          <a:xfrm>
            <a:off x="731520" y="1645920"/>
            <a:ext cx="2468880" cy="4480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45920"/>
            <a:ext cx="2468880" cy="73152"/>
          </a:xfrm>
          <a:prstGeom prst="rect">
            <a:avLst/>
          </a:prstGeom>
          <a:solidFill>
            <a:srgbClr val="2F8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10512"/>
            <a:ext cx="2103120" cy="4206240"/>
          </a:xfrm>
          <a:prstGeom prst="rect">
            <a:avLst/>
          </a:prstGeom>
          <a:noFill/>
        </p:spPr>
        <p:txBody>
          <a:bodyPr wrap="square" lIns="0" tIns="0">
            <a:spAutoFit/>
          </a:bodyPr>
          <a:lstStyle/>
          <a:p>
            <a:pPr>
              <a:defRPr sz="850" b="1">
                <a:solidFill>
                  <a:srgbClr val="2F8F78"/>
                </a:solidFill>
                <a:latin typeface="Calibri"/>
              </a:defRPr>
            </a:pPr>
            <a:r>
              <a:t>PILLAR 1</a:t>
            </a:r>
          </a:p>
          <a:p>
            <a:pPr>
              <a:spcBef>
                <a:spcPts val="300"/>
              </a:spcBef>
              <a:defRPr sz="1350" b="1">
                <a:solidFill>
                  <a:srgbClr val="0F172A"/>
                </a:solidFill>
                <a:latin typeface="Calibri"/>
              </a:defRPr>
            </a:pPr>
            <a:r>
              <a:t>Single Source of Truth</a:t>
            </a:r>
          </a:p>
          <a:p>
            <a:pPr>
              <a:spcBef>
                <a:spcPts val="500"/>
              </a:spcBef>
              <a:defRPr sz="950">
                <a:solidFill>
                  <a:srgbClr val="0F172A"/>
                </a:solidFill>
                <a:latin typeface="Calibri"/>
              </a:defRPr>
            </a:pPr>
            <a:r>
              <a:t>▪  Centralized MongoDB Atlas database.</a:t>
            </a:r>
          </a:p>
          <a:p>
            <a:pPr>
              <a:spcBef>
                <a:spcPts val="500"/>
              </a:spcBef>
              <a:defRPr sz="950">
                <a:solidFill>
                  <a:srgbClr val="0F172A"/>
                </a:solidFill>
                <a:latin typeface="Calibri"/>
              </a:defRPr>
            </a:pPr>
            <a:r>
              <a:t>▪  Unified profiles for Students, Faculty, TPOs, and Corporate Recruiters.</a:t>
            </a:r>
          </a:p>
          <a:p>
            <a:pPr>
              <a:spcBef>
                <a:spcPts val="500"/>
              </a:spcBef>
              <a:defRPr sz="950">
                <a:solidFill>
                  <a:srgbClr val="0F172A"/>
                </a:solidFill>
                <a:latin typeface="Calibri"/>
              </a:defRPr>
            </a:pPr>
            <a:r>
              <a:t>▪  Real-time synchronized records across all 5 user roles.</a:t>
            </a:r>
          </a:p>
        </p:txBody>
      </p:sp>
      <p:sp>
        <p:nvSpPr>
          <p:cNvPr id="9" name="Rounded Rectangle 8"/>
          <p:cNvSpPr/>
          <p:nvPr/>
        </p:nvSpPr>
        <p:spPr>
          <a:xfrm>
            <a:off x="3474720" y="1645920"/>
            <a:ext cx="2468880" cy="4480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474720" y="1645920"/>
            <a:ext cx="2468880" cy="73152"/>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0" y="1810512"/>
            <a:ext cx="2103120" cy="4206240"/>
          </a:xfrm>
          <a:prstGeom prst="rect">
            <a:avLst/>
          </a:prstGeom>
          <a:noFill/>
        </p:spPr>
        <p:txBody>
          <a:bodyPr wrap="square" lIns="0" tIns="0">
            <a:spAutoFit/>
          </a:bodyPr>
          <a:lstStyle/>
          <a:p>
            <a:pPr>
              <a:defRPr sz="850" b="1">
                <a:solidFill>
                  <a:srgbClr val="6366F1"/>
                </a:solidFill>
                <a:latin typeface="Calibri"/>
              </a:defRPr>
            </a:pPr>
            <a:r>
              <a:t>PILLAR 2</a:t>
            </a:r>
          </a:p>
          <a:p>
            <a:pPr>
              <a:spcBef>
                <a:spcPts val="300"/>
              </a:spcBef>
              <a:defRPr sz="1350" b="1">
                <a:solidFill>
                  <a:srgbClr val="0F172A"/>
                </a:solidFill>
                <a:latin typeface="Calibri"/>
              </a:defRPr>
            </a:pPr>
            <a:r>
              <a:t>Automated Eligibility Gate</a:t>
            </a:r>
          </a:p>
          <a:p>
            <a:pPr>
              <a:spcBef>
                <a:spcPts val="500"/>
              </a:spcBef>
              <a:defRPr sz="950">
                <a:solidFill>
                  <a:srgbClr val="0F172A"/>
                </a:solidFill>
                <a:latin typeface="Calibri"/>
              </a:defRPr>
            </a:pPr>
            <a:r>
              <a:t>▪  Sub-millisecond validation rule engine.</a:t>
            </a:r>
          </a:p>
          <a:p>
            <a:pPr>
              <a:spcBef>
                <a:spcPts val="500"/>
              </a:spcBef>
              <a:defRPr sz="950">
                <a:solidFill>
                  <a:srgbClr val="0F172A"/>
                </a:solidFill>
                <a:latin typeface="Calibri"/>
              </a:defRPr>
            </a:pPr>
            <a:r>
              <a:t>▪  Instant evaluation of CGPA, Active Backlogs, Batch, and Eligible Branches.</a:t>
            </a:r>
          </a:p>
          <a:p>
            <a:pPr>
              <a:spcBef>
                <a:spcPts val="500"/>
              </a:spcBef>
              <a:defRPr sz="950">
                <a:solidFill>
                  <a:srgbClr val="0F172A"/>
                </a:solidFill>
                <a:latin typeface="Calibri"/>
              </a:defRPr>
            </a:pPr>
            <a:r>
              <a:t>▪  Rejects ineligible applicants instantly with clear feedback.</a:t>
            </a:r>
          </a:p>
        </p:txBody>
      </p:sp>
      <p:sp>
        <p:nvSpPr>
          <p:cNvPr id="12" name="Rounded Rectangle 11"/>
          <p:cNvSpPr/>
          <p:nvPr/>
        </p:nvSpPr>
        <p:spPr>
          <a:xfrm>
            <a:off x="6217920" y="1645920"/>
            <a:ext cx="2468880" cy="4480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645920"/>
            <a:ext cx="2468880"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1810512"/>
            <a:ext cx="2103120" cy="4206240"/>
          </a:xfrm>
          <a:prstGeom prst="rect">
            <a:avLst/>
          </a:prstGeom>
          <a:noFill/>
        </p:spPr>
        <p:txBody>
          <a:bodyPr wrap="square" lIns="0" tIns="0">
            <a:spAutoFit/>
          </a:bodyPr>
          <a:lstStyle/>
          <a:p>
            <a:pPr>
              <a:defRPr sz="850" b="1">
                <a:solidFill>
                  <a:srgbClr val="10B981"/>
                </a:solidFill>
                <a:latin typeface="Calibri"/>
              </a:defRPr>
            </a:pPr>
            <a:r>
              <a:t>PILLAR 3</a:t>
            </a:r>
          </a:p>
          <a:p>
            <a:pPr>
              <a:spcBef>
                <a:spcPts val="300"/>
              </a:spcBef>
              <a:defRPr sz="1350" b="1">
                <a:solidFill>
                  <a:srgbClr val="0F172A"/>
                </a:solidFill>
                <a:latin typeface="Calibri"/>
              </a:defRPr>
            </a:pPr>
            <a:r>
              <a:t>5-Stage Hiring Funnel</a:t>
            </a:r>
          </a:p>
          <a:p>
            <a:pPr>
              <a:spcBef>
                <a:spcPts val="500"/>
              </a:spcBef>
              <a:defRPr sz="950">
                <a:solidFill>
                  <a:srgbClr val="0F172A"/>
                </a:solidFill>
                <a:latin typeface="Calibri"/>
              </a:defRPr>
            </a:pPr>
            <a:r>
              <a:t>▪  End-to-end recruitment pipeline.</a:t>
            </a:r>
          </a:p>
          <a:p>
            <a:pPr>
              <a:spcBef>
                <a:spcPts val="500"/>
              </a:spcBef>
              <a:defRPr sz="950">
                <a:solidFill>
                  <a:srgbClr val="0F172A"/>
                </a:solidFill>
                <a:latin typeface="Calibri"/>
              </a:defRPr>
            </a:pPr>
            <a:r>
              <a:t>▪  Applied -&gt; OA -&gt; Tech -&gt; HR -&gt; Placed.</a:t>
            </a:r>
          </a:p>
          <a:p>
            <a:pPr>
              <a:spcBef>
                <a:spcPts val="500"/>
              </a:spcBef>
              <a:defRPr sz="950">
                <a:solidFill>
                  <a:srgbClr val="0F172A"/>
                </a:solidFill>
                <a:latin typeface="Calibri"/>
              </a:defRPr>
            </a:pPr>
            <a:r>
              <a:t>▪  Integrated virtual Google Meet / Zoom and on-campus room scheduling.</a:t>
            </a:r>
          </a:p>
        </p:txBody>
      </p:sp>
      <p:sp>
        <p:nvSpPr>
          <p:cNvPr id="15" name="Rounded Rectangle 14"/>
          <p:cNvSpPr/>
          <p:nvPr/>
        </p:nvSpPr>
        <p:spPr>
          <a:xfrm>
            <a:off x="8961120" y="1645920"/>
            <a:ext cx="2468880" cy="4480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961120" y="1645920"/>
            <a:ext cx="2468880" cy="73152"/>
          </a:xfrm>
          <a:prstGeom prst="rect">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0" y="1810512"/>
            <a:ext cx="2103120" cy="4206240"/>
          </a:xfrm>
          <a:prstGeom prst="rect">
            <a:avLst/>
          </a:prstGeom>
          <a:noFill/>
        </p:spPr>
        <p:txBody>
          <a:bodyPr wrap="square" lIns="0" tIns="0">
            <a:spAutoFit/>
          </a:bodyPr>
          <a:lstStyle/>
          <a:p>
            <a:pPr>
              <a:defRPr sz="850" b="1">
                <a:solidFill>
                  <a:srgbClr val="9333EA"/>
                </a:solidFill>
                <a:latin typeface="Calibri"/>
              </a:defRPr>
            </a:pPr>
            <a:r>
              <a:t>PILLAR 4</a:t>
            </a:r>
          </a:p>
          <a:p>
            <a:pPr>
              <a:spcBef>
                <a:spcPts val="300"/>
              </a:spcBef>
              <a:defRPr sz="1350" b="1">
                <a:solidFill>
                  <a:srgbClr val="0F172A"/>
                </a:solidFill>
                <a:latin typeface="Calibri"/>
              </a:defRPr>
            </a:pPr>
            <a:r>
              <a:t>Instant NIRF/NAAC Engine</a:t>
            </a:r>
          </a:p>
          <a:p>
            <a:pPr>
              <a:spcBef>
                <a:spcPts val="500"/>
              </a:spcBef>
              <a:defRPr sz="950">
                <a:solidFill>
                  <a:srgbClr val="0F172A"/>
                </a:solidFill>
                <a:latin typeface="Calibri"/>
              </a:defRPr>
            </a:pPr>
            <a:r>
              <a:t>▪  1-click export of accredited reports.</a:t>
            </a:r>
          </a:p>
          <a:p>
            <a:pPr>
              <a:spcBef>
                <a:spcPts val="500"/>
              </a:spcBef>
              <a:defRPr sz="950">
                <a:solidFill>
                  <a:srgbClr val="0F172A"/>
                </a:solidFill>
                <a:latin typeface="Calibri"/>
              </a:defRPr>
            </a:pPr>
            <a:r>
              <a:t>▪  Automated Median Salary calculation.</a:t>
            </a:r>
          </a:p>
          <a:p>
            <a:pPr>
              <a:spcBef>
                <a:spcPts val="500"/>
              </a:spcBef>
              <a:defRPr sz="950">
                <a:solidFill>
                  <a:srgbClr val="0F172A"/>
                </a:solidFill>
                <a:latin typeface="Calibri"/>
              </a:defRPr>
            </a:pPr>
            <a:r>
              <a:t>▪  Immutable audit logs satisfying NAAC SSR Criterion 5.2.1 compliance.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F8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46520"/>
            <a:ext cx="10728655" cy="320040"/>
          </a:xfrm>
          <a:prstGeom prst="rect">
            <a:avLst/>
          </a:prstGeom>
          <a:noFill/>
        </p:spPr>
        <p:txBody>
          <a:bodyPr wrap="square">
            <a:spAutoFit/>
          </a:bodyPr>
          <a:lstStyle/>
          <a:p>
            <a:pPr algn="ctr">
              <a:defRPr sz="850">
                <a:solidFill>
                  <a:srgbClr val="64748B"/>
                </a:solidFill>
                <a:latin typeface="Calibri"/>
              </a:defRPr>
            </a:pPr>
            <a:r>
              <a:t>UdyamPath (उद्यमपथ) — Tier-1 Campus Placement Operating System  |  Rahul Sharma  |  Slide 5 of 20</a:t>
            </a:r>
          </a:p>
        </p:txBody>
      </p:sp>
      <p:sp>
        <p:nvSpPr>
          <p:cNvPr id="5" name="TextBox 4"/>
          <p:cNvSpPr txBox="1"/>
          <p:nvPr/>
        </p:nvSpPr>
        <p:spPr>
          <a:xfrm>
            <a:off x="731520" y="320040"/>
            <a:ext cx="10728655" cy="1097280"/>
          </a:xfrm>
          <a:prstGeom prst="rect">
            <a:avLst/>
          </a:prstGeom>
          <a:noFill/>
        </p:spPr>
        <p:txBody>
          <a:bodyPr wrap="square" lIns="0" tIns="0" rIns="0" bIns="0">
            <a:spAutoFit/>
          </a:bodyPr>
          <a:lstStyle/>
          <a:p>
            <a:pPr>
              <a:defRPr sz="950" b="1">
                <a:solidFill>
                  <a:srgbClr val="2F8F78"/>
                </a:solidFill>
                <a:latin typeface="Calibri"/>
              </a:defRPr>
            </a:pPr>
            <a:r>
              <a:t>TECHNICAL ARCHITECTURE</a:t>
            </a:r>
          </a:p>
          <a:p>
            <a:pPr>
              <a:spcBef>
                <a:spcPts val="200"/>
              </a:spcBef>
              <a:defRPr sz="2200" b="1">
                <a:solidFill>
                  <a:srgbClr val="0F172A"/>
                </a:solidFill>
                <a:latin typeface="Calibri"/>
              </a:defRPr>
            </a:pPr>
            <a:r>
              <a:t>System Architecture: Decoupled 3-Tier MERN Stack</a:t>
            </a:r>
          </a:p>
          <a:p>
            <a:pPr>
              <a:spcBef>
                <a:spcPts val="200"/>
              </a:spcBef>
              <a:defRPr sz="1100">
                <a:solidFill>
                  <a:srgbClr val="64748B"/>
                </a:solidFill>
                <a:latin typeface="Calibri"/>
              </a:defRPr>
            </a:pPr>
            <a:r>
              <a:t>High-throughput, reactive client-server architecture with cloud database.</a:t>
            </a:r>
          </a:p>
        </p:txBody>
      </p:sp>
      <p:sp>
        <p:nvSpPr>
          <p:cNvPr id="6" name="Rounded Rectangle 5"/>
          <p:cNvSpPr/>
          <p:nvPr/>
        </p:nvSpPr>
        <p:spPr>
          <a:xfrm>
            <a:off x="731520" y="1645920"/>
            <a:ext cx="10728655" cy="1325880"/>
          </a:xfrm>
          <a:prstGeom prst="roundRect">
            <a:avLst/>
          </a:prstGeom>
          <a:solidFill>
            <a:srgbClr val="FFFFFF"/>
          </a:solidFill>
          <a:ln w="19050">
            <a:solidFill>
              <a:srgbClr val="2F8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45920"/>
            <a:ext cx="109728" cy="1325880"/>
          </a:xfrm>
          <a:prstGeom prst="rect">
            <a:avLst/>
          </a:prstGeom>
          <a:solidFill>
            <a:srgbClr val="2F8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737360"/>
            <a:ext cx="10241280" cy="1143000"/>
          </a:xfrm>
          <a:prstGeom prst="rect">
            <a:avLst/>
          </a:prstGeom>
          <a:noFill/>
        </p:spPr>
        <p:txBody>
          <a:bodyPr wrap="square">
            <a:spAutoFit/>
          </a:bodyPr>
          <a:lstStyle/>
          <a:p>
            <a:pPr>
              <a:defRPr sz="1200" b="1">
                <a:solidFill>
                  <a:srgbClr val="2F8F78"/>
                </a:solidFill>
                <a:latin typeface="Calibri"/>
              </a:defRPr>
            </a:pPr>
            <a:r>
              <a:t>TIER 1: PRESENTATION LAYER (SPA)  —  React 18 + Vite 6 + TailwindCSS / Vanilla CSS3 Design System</a:t>
            </a:r>
          </a:p>
          <a:p>
            <a:pPr>
              <a:spcBef>
                <a:spcPts val="200"/>
              </a:spcBef>
              <a:defRPr sz="950">
                <a:solidFill>
                  <a:srgbClr val="0F172A"/>
                </a:solidFill>
                <a:latin typeface="Calibri"/>
              </a:defRPr>
            </a:pPr>
            <a:r>
              <a:t>•  Component-Driven UI: Responsive dashboards for 5 roles with glassmorphic cards and state persistence.</a:t>
            </a:r>
          </a:p>
          <a:p>
            <a:pPr>
              <a:spcBef>
                <a:spcPts val="200"/>
              </a:spcBef>
              <a:defRPr sz="950">
                <a:solidFill>
                  <a:srgbClr val="0F172A"/>
                </a:solidFill>
                <a:latin typeface="Calibri"/>
              </a:defRPr>
            </a:pPr>
            <a:r>
              <a:t>•  Client Routing &amp; Auth: React Router 6 protected routes, JWT token decoding, and role-based route guards.</a:t>
            </a:r>
          </a:p>
          <a:p>
            <a:pPr>
              <a:spcBef>
                <a:spcPts val="200"/>
              </a:spcBef>
              <a:defRPr sz="950">
                <a:solidFill>
                  <a:srgbClr val="0F172A"/>
                </a:solidFill>
                <a:latin typeface="Calibri"/>
              </a:defRPr>
            </a:pPr>
            <a:r>
              <a:t>•  State &amp; Network: Axios interceptors with automatic Bearer token injection and error handling.</a:t>
            </a:r>
          </a:p>
        </p:txBody>
      </p:sp>
      <p:sp>
        <p:nvSpPr>
          <p:cNvPr id="9" name="Rounded Rectangle 8"/>
          <p:cNvSpPr/>
          <p:nvPr/>
        </p:nvSpPr>
        <p:spPr>
          <a:xfrm>
            <a:off x="731520" y="3154680"/>
            <a:ext cx="10728655" cy="1325880"/>
          </a:xfrm>
          <a:prstGeom prst="roundRect">
            <a:avLst/>
          </a:prstGeom>
          <a:solidFill>
            <a:srgbClr val="FFFFFF"/>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3154680"/>
            <a:ext cx="109728" cy="132588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246120"/>
            <a:ext cx="10241280" cy="1143000"/>
          </a:xfrm>
          <a:prstGeom prst="rect">
            <a:avLst/>
          </a:prstGeom>
          <a:noFill/>
        </p:spPr>
        <p:txBody>
          <a:bodyPr wrap="square">
            <a:spAutoFit/>
          </a:bodyPr>
          <a:lstStyle/>
          <a:p>
            <a:pPr>
              <a:defRPr sz="1200" b="1">
                <a:solidFill>
                  <a:srgbClr val="6366F1"/>
                </a:solidFill>
                <a:latin typeface="Calibri"/>
              </a:defRPr>
            </a:pPr>
            <a:r>
              <a:t>TIER 2: APPLICATION &amp; API GATEWAY LAYER  —  Node.js + Express.js REST API + Enterprise Security Middlewares</a:t>
            </a:r>
          </a:p>
          <a:p>
            <a:pPr>
              <a:spcBef>
                <a:spcPts val="200"/>
              </a:spcBef>
              <a:defRPr sz="950">
                <a:solidFill>
                  <a:srgbClr val="0F172A"/>
                </a:solidFill>
                <a:latin typeface="Calibri"/>
              </a:defRPr>
            </a:pPr>
            <a:r>
              <a:t>•  Security Perimeter: Helmet HTTP headers, CORS whitelisting, and express-rate-limit throttling (100 req/15 min).</a:t>
            </a:r>
          </a:p>
          <a:p>
            <a:pPr>
              <a:spcBef>
                <a:spcPts val="200"/>
              </a:spcBef>
              <a:defRPr sz="950">
                <a:solidFill>
                  <a:srgbClr val="0F172A"/>
                </a:solidFill>
                <a:latin typeface="Calibri"/>
              </a:defRPr>
            </a:pPr>
            <a:r>
              <a:t>•  Business Logic Engine: Automated eligibility filtering, dynamic drive shortlisting, and multi-round scoring.</a:t>
            </a:r>
          </a:p>
          <a:p>
            <a:pPr>
              <a:spcBef>
                <a:spcPts val="200"/>
              </a:spcBef>
              <a:defRPr sz="950">
                <a:solidFill>
                  <a:srgbClr val="0F172A"/>
                </a:solidFill>
                <a:latin typeface="Calibri"/>
              </a:defRPr>
            </a:pPr>
            <a:r>
              <a:t>•  Authentication Core: Cryptographic JWT authentication, Bcrypt password hashing (salt rounds = 10).</a:t>
            </a:r>
          </a:p>
        </p:txBody>
      </p:sp>
      <p:sp>
        <p:nvSpPr>
          <p:cNvPr id="12" name="Rounded Rectangle 11"/>
          <p:cNvSpPr/>
          <p:nvPr/>
        </p:nvSpPr>
        <p:spPr>
          <a:xfrm>
            <a:off x="731520" y="4663440"/>
            <a:ext cx="10728655" cy="1325880"/>
          </a:xfrm>
          <a:prstGeom prst="roundRect">
            <a:avLst/>
          </a:prstGeom>
          <a:solidFill>
            <a:srgbClr val="FFFFFF"/>
          </a:solidFill>
          <a:ln w="1905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4663440"/>
            <a:ext cx="109728" cy="1325880"/>
          </a:xfrm>
          <a:prstGeom prst="rect">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4754880"/>
            <a:ext cx="10241280" cy="1143000"/>
          </a:xfrm>
          <a:prstGeom prst="rect">
            <a:avLst/>
          </a:prstGeom>
          <a:noFill/>
        </p:spPr>
        <p:txBody>
          <a:bodyPr wrap="square">
            <a:spAutoFit/>
          </a:bodyPr>
          <a:lstStyle/>
          <a:p>
            <a:pPr>
              <a:defRPr sz="1200" b="1">
                <a:solidFill>
                  <a:srgbClr val="9333EA"/>
                </a:solidFill>
                <a:latin typeface="Calibri"/>
              </a:defRPr>
            </a:pPr>
            <a:r>
              <a:t>TIER 3: PERSISTENCE &amp; DATA STORAGE LAYER  —  MongoDB Atlas Cloud Cluster + 9 Relational Mongoose Schemas</a:t>
            </a:r>
          </a:p>
          <a:p>
            <a:pPr>
              <a:spcBef>
                <a:spcPts val="200"/>
              </a:spcBef>
              <a:defRPr sz="950">
                <a:solidFill>
                  <a:srgbClr val="0F172A"/>
                </a:solidFill>
                <a:latin typeface="Calibri"/>
              </a:defRPr>
            </a:pPr>
            <a:r>
              <a:t>•  Data Modeling: Normalized relational schemas across Users, Students, Drives, Applications, and Offers.</a:t>
            </a:r>
          </a:p>
          <a:p>
            <a:pPr>
              <a:spcBef>
                <a:spcPts val="200"/>
              </a:spcBef>
              <a:defRPr sz="950">
                <a:solidFill>
                  <a:srgbClr val="0F172A"/>
                </a:solidFill>
                <a:latin typeface="Calibri"/>
              </a:defRPr>
            </a:pPr>
            <a:r>
              <a:t>•  Compound Indexing: Unique compound index `{ student: 1, drive: 1 }` completely preventing duplicate submissions.</a:t>
            </a:r>
          </a:p>
          <a:p>
            <a:pPr>
              <a:spcBef>
                <a:spcPts val="200"/>
              </a:spcBef>
              <a:defRPr sz="950">
                <a:solidFill>
                  <a:srgbClr val="0F172A"/>
                </a:solidFill>
                <a:latin typeface="Calibri"/>
              </a:defRPr>
            </a:pPr>
            <a:r>
              <a:t>•  Audit Logging: Immutable tracking of all administrative actions, drive edits, and status transitions.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F8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46520"/>
            <a:ext cx="10728655" cy="320040"/>
          </a:xfrm>
          <a:prstGeom prst="rect">
            <a:avLst/>
          </a:prstGeom>
          <a:noFill/>
        </p:spPr>
        <p:txBody>
          <a:bodyPr wrap="square">
            <a:spAutoFit/>
          </a:bodyPr>
          <a:lstStyle/>
          <a:p>
            <a:pPr algn="ctr">
              <a:defRPr sz="850">
                <a:solidFill>
                  <a:srgbClr val="64748B"/>
                </a:solidFill>
                <a:latin typeface="Calibri"/>
              </a:defRPr>
            </a:pPr>
            <a:r>
              <a:t>UdyamPath (उद्यमपथ) — Tier-1 Campus Placement Operating System  |  Rahul Sharma  |  Slide 6 of 20</a:t>
            </a:r>
          </a:p>
        </p:txBody>
      </p:sp>
      <p:sp>
        <p:nvSpPr>
          <p:cNvPr id="5" name="TextBox 4"/>
          <p:cNvSpPr txBox="1"/>
          <p:nvPr/>
        </p:nvSpPr>
        <p:spPr>
          <a:xfrm>
            <a:off x="731520" y="320040"/>
            <a:ext cx="10728655" cy="1097280"/>
          </a:xfrm>
          <a:prstGeom prst="rect">
            <a:avLst/>
          </a:prstGeom>
          <a:noFill/>
        </p:spPr>
        <p:txBody>
          <a:bodyPr wrap="square" lIns="0" tIns="0" rIns="0" bIns="0">
            <a:spAutoFit/>
          </a:bodyPr>
          <a:lstStyle/>
          <a:p>
            <a:pPr>
              <a:defRPr sz="950" b="1">
                <a:solidFill>
                  <a:srgbClr val="2F8F78"/>
                </a:solidFill>
                <a:latin typeface="Calibri"/>
              </a:defRPr>
            </a:pPr>
            <a:r>
              <a:t>SECURITY &amp; GOVERNANCE</a:t>
            </a:r>
          </a:p>
          <a:p>
            <a:pPr>
              <a:spcBef>
                <a:spcPts val="200"/>
              </a:spcBef>
              <a:defRPr sz="2200" b="1">
                <a:solidFill>
                  <a:srgbClr val="0F172A"/>
                </a:solidFill>
                <a:latin typeface="Calibri"/>
              </a:defRPr>
            </a:pPr>
            <a:r>
              <a:t>Role-Based Access Control (RBAC): 5 Distinct Personas</a:t>
            </a:r>
          </a:p>
          <a:p>
            <a:pPr>
              <a:spcBef>
                <a:spcPts val="200"/>
              </a:spcBef>
              <a:defRPr sz="1100">
                <a:solidFill>
                  <a:srgbClr val="64748B"/>
                </a:solidFill>
                <a:latin typeface="Calibri"/>
              </a:defRPr>
            </a:pPr>
            <a:r>
              <a:t>Strict least-privilege security boundaries enforcing end-to-end data isolation.</a:t>
            </a:r>
          </a:p>
        </p:txBody>
      </p:sp>
      <p:sp>
        <p:nvSpPr>
          <p:cNvPr id="6" name="Rounded Rectangle 5"/>
          <p:cNvSpPr/>
          <p:nvPr/>
        </p:nvSpPr>
        <p:spPr>
          <a:xfrm>
            <a:off x="731520" y="1645920"/>
            <a:ext cx="1993392" cy="4480560"/>
          </a:xfrm>
          <a:prstGeom prst="roundRect">
            <a:avLst/>
          </a:prstGeom>
          <a:solidFill>
            <a:srgbClr val="FFFFFF"/>
          </a:solidFill>
          <a:ln w="1905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45920"/>
            <a:ext cx="1993392" cy="457200"/>
          </a:xfrm>
          <a:prstGeom prst="rect">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719072"/>
            <a:ext cx="1993392" cy="320040"/>
          </a:xfrm>
          <a:prstGeom prst="rect">
            <a:avLst/>
          </a:prstGeom>
          <a:noFill/>
        </p:spPr>
        <p:txBody>
          <a:bodyPr wrap="none">
            <a:spAutoFit/>
          </a:bodyPr>
          <a:lstStyle/>
          <a:p>
            <a:pPr algn="ctr">
              <a:defRPr sz="1000" b="1">
                <a:solidFill>
                  <a:srgbClr val="FFFFFF"/>
                </a:solidFill>
                <a:latin typeface="Calibri"/>
              </a:defRPr>
            </a:pPr>
            <a:r>
              <a:t>ROLE: ADMIN</a:t>
            </a:r>
          </a:p>
        </p:txBody>
      </p:sp>
      <p:sp>
        <p:nvSpPr>
          <p:cNvPr id="9" name="TextBox 8"/>
          <p:cNvSpPr txBox="1"/>
          <p:nvPr/>
        </p:nvSpPr>
        <p:spPr>
          <a:xfrm>
            <a:off x="841248" y="2240280"/>
            <a:ext cx="1773936" cy="3749039"/>
          </a:xfrm>
          <a:prstGeom prst="rect">
            <a:avLst/>
          </a:prstGeom>
          <a:noFill/>
        </p:spPr>
        <p:txBody>
          <a:bodyPr wrap="square">
            <a:spAutoFit/>
          </a:bodyPr>
          <a:lstStyle/>
          <a:p>
            <a:pPr>
              <a:defRPr sz="1250" b="1">
                <a:solidFill>
                  <a:srgbClr val="0F172A"/>
                </a:solidFill>
                <a:latin typeface="Calibri"/>
              </a:defRPr>
            </a:pPr>
            <a:r>
              <a:t>Institutional Director</a:t>
            </a:r>
          </a:p>
          <a:p>
            <a:pPr>
              <a:spcBef>
                <a:spcPts val="800"/>
              </a:spcBef>
              <a:defRPr sz="950">
                <a:solidFill>
                  <a:srgbClr val="64748B"/>
                </a:solidFill>
                <a:latin typeface="Calibri"/>
              </a:defRPr>
            </a:pPr>
            <a:r>
              <a:t>Global master configuration, user provisioning, system logs, and security policies.</a:t>
            </a:r>
          </a:p>
          <a:p>
            <a:pPr>
              <a:spcBef>
                <a:spcPts val="1200"/>
              </a:spcBef>
              <a:defRPr sz="900" b="1">
                <a:solidFill>
                  <a:srgbClr val="9333EA"/>
                </a:solidFill>
                <a:latin typeface="Calibri"/>
              </a:defRPr>
            </a:pPr>
            <a:r>
              <a:t>Permission Scope:</a:t>
            </a:r>
          </a:p>
          <a:p>
            <a:pPr>
              <a:spcBef>
                <a:spcPts val="200"/>
              </a:spcBef>
              <a:defRPr sz="850">
                <a:solidFill>
                  <a:srgbClr val="0F172A"/>
                </a:solidFill>
                <a:latin typeface="Calibri"/>
              </a:defRPr>
            </a:pPr>
            <a:r>
              <a:t>Strict JWT Middleware Route Protection</a:t>
            </a:r>
          </a:p>
        </p:txBody>
      </p:sp>
      <p:sp>
        <p:nvSpPr>
          <p:cNvPr id="10" name="Rounded Rectangle 9"/>
          <p:cNvSpPr/>
          <p:nvPr/>
        </p:nvSpPr>
        <p:spPr>
          <a:xfrm>
            <a:off x="2907792" y="1645920"/>
            <a:ext cx="1993392" cy="4480560"/>
          </a:xfrm>
          <a:prstGeom prst="roundRect">
            <a:avLst/>
          </a:prstGeom>
          <a:solidFill>
            <a:srgbClr val="FFFFFF"/>
          </a:solidFill>
          <a:ln w="19050">
            <a:solidFill>
              <a:srgbClr val="2F8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907792" y="1645920"/>
            <a:ext cx="1993392" cy="457200"/>
          </a:xfrm>
          <a:prstGeom prst="rect">
            <a:avLst/>
          </a:prstGeom>
          <a:solidFill>
            <a:srgbClr val="2F8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07792" y="1719072"/>
            <a:ext cx="1993392" cy="320040"/>
          </a:xfrm>
          <a:prstGeom prst="rect">
            <a:avLst/>
          </a:prstGeom>
          <a:noFill/>
        </p:spPr>
        <p:txBody>
          <a:bodyPr wrap="none">
            <a:spAutoFit/>
          </a:bodyPr>
          <a:lstStyle/>
          <a:p>
            <a:pPr algn="ctr">
              <a:defRPr sz="1000" b="1">
                <a:solidFill>
                  <a:srgbClr val="FFFFFF"/>
                </a:solidFill>
                <a:latin typeface="Calibri"/>
              </a:defRPr>
            </a:pPr>
            <a:r>
              <a:t>ROLE: TPO</a:t>
            </a:r>
          </a:p>
        </p:txBody>
      </p:sp>
      <p:sp>
        <p:nvSpPr>
          <p:cNvPr id="13" name="TextBox 12"/>
          <p:cNvSpPr txBox="1"/>
          <p:nvPr/>
        </p:nvSpPr>
        <p:spPr>
          <a:xfrm>
            <a:off x="3017520" y="2240280"/>
            <a:ext cx="1773936" cy="3749039"/>
          </a:xfrm>
          <a:prstGeom prst="rect">
            <a:avLst/>
          </a:prstGeom>
          <a:noFill/>
        </p:spPr>
        <p:txBody>
          <a:bodyPr wrap="square">
            <a:spAutoFit/>
          </a:bodyPr>
          <a:lstStyle/>
          <a:p>
            <a:pPr>
              <a:defRPr sz="1250" b="1">
                <a:solidFill>
                  <a:srgbClr val="0F172A"/>
                </a:solidFill>
                <a:latin typeface="Calibri"/>
              </a:defRPr>
            </a:pPr>
            <a:r>
              <a:t>Training &amp; Placement Officer</a:t>
            </a:r>
          </a:p>
          <a:p>
            <a:pPr>
              <a:spcBef>
                <a:spcPts val="800"/>
              </a:spcBef>
              <a:defRPr sz="950">
                <a:solidFill>
                  <a:srgbClr val="64748B"/>
                </a:solidFill>
                <a:latin typeface="Calibri"/>
              </a:defRPr>
            </a:pPr>
            <a:r>
              <a:t>Drive creation, eligibility criteria, student shortlisting, interview coordination, NIRF export.</a:t>
            </a:r>
          </a:p>
          <a:p>
            <a:pPr>
              <a:spcBef>
                <a:spcPts val="1200"/>
              </a:spcBef>
              <a:defRPr sz="900" b="1">
                <a:solidFill>
                  <a:srgbClr val="2F8F78"/>
                </a:solidFill>
                <a:latin typeface="Calibri"/>
              </a:defRPr>
            </a:pPr>
            <a:r>
              <a:t>Permission Scope:</a:t>
            </a:r>
          </a:p>
          <a:p>
            <a:pPr>
              <a:spcBef>
                <a:spcPts val="200"/>
              </a:spcBef>
              <a:defRPr sz="850">
                <a:solidFill>
                  <a:srgbClr val="0F172A"/>
                </a:solidFill>
                <a:latin typeface="Calibri"/>
              </a:defRPr>
            </a:pPr>
            <a:r>
              <a:t>Strict JWT Middleware Route Protection</a:t>
            </a:r>
          </a:p>
        </p:txBody>
      </p:sp>
      <p:sp>
        <p:nvSpPr>
          <p:cNvPr id="14" name="Rounded Rectangle 13"/>
          <p:cNvSpPr/>
          <p:nvPr/>
        </p:nvSpPr>
        <p:spPr>
          <a:xfrm>
            <a:off x="5084064" y="1645920"/>
            <a:ext cx="1993392" cy="448056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84064" y="1645920"/>
            <a:ext cx="1993392" cy="4572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84064" y="1719072"/>
            <a:ext cx="1993392" cy="320040"/>
          </a:xfrm>
          <a:prstGeom prst="rect">
            <a:avLst/>
          </a:prstGeom>
          <a:noFill/>
        </p:spPr>
        <p:txBody>
          <a:bodyPr wrap="none">
            <a:spAutoFit/>
          </a:bodyPr>
          <a:lstStyle/>
          <a:p>
            <a:pPr algn="ctr">
              <a:defRPr sz="1000" b="1">
                <a:solidFill>
                  <a:srgbClr val="FFFFFF"/>
                </a:solidFill>
                <a:latin typeface="Calibri"/>
              </a:defRPr>
            </a:pPr>
            <a:r>
              <a:t>ROLE: HOD</a:t>
            </a:r>
          </a:p>
        </p:txBody>
      </p:sp>
      <p:sp>
        <p:nvSpPr>
          <p:cNvPr id="17" name="TextBox 16"/>
          <p:cNvSpPr txBox="1"/>
          <p:nvPr/>
        </p:nvSpPr>
        <p:spPr>
          <a:xfrm>
            <a:off x="5193792" y="2240280"/>
            <a:ext cx="1773936" cy="3749039"/>
          </a:xfrm>
          <a:prstGeom prst="rect">
            <a:avLst/>
          </a:prstGeom>
          <a:noFill/>
        </p:spPr>
        <p:txBody>
          <a:bodyPr wrap="square">
            <a:spAutoFit/>
          </a:bodyPr>
          <a:lstStyle/>
          <a:p>
            <a:pPr>
              <a:defRPr sz="1250" b="1">
                <a:solidFill>
                  <a:srgbClr val="0F172A"/>
                </a:solidFill>
                <a:latin typeface="Calibri"/>
              </a:defRPr>
            </a:pPr>
            <a:r>
              <a:t>Head of Department</a:t>
            </a:r>
          </a:p>
          <a:p>
            <a:pPr>
              <a:spcBef>
                <a:spcPts val="800"/>
              </a:spcBef>
              <a:defRPr sz="950">
                <a:solidFill>
                  <a:srgbClr val="64748B"/>
                </a:solidFill>
                <a:latin typeface="Calibri"/>
              </a:defRPr>
            </a:pPr>
            <a:r>
              <a:t>Branch-specific candidate tracking, academic verification, and departmental placement metrics.</a:t>
            </a:r>
          </a:p>
          <a:p>
            <a:pPr>
              <a:spcBef>
                <a:spcPts val="1200"/>
              </a:spcBef>
              <a:defRPr sz="900" b="1">
                <a:solidFill>
                  <a:srgbClr val="2563EB"/>
                </a:solidFill>
                <a:latin typeface="Calibri"/>
              </a:defRPr>
            </a:pPr>
            <a:r>
              <a:t>Permission Scope:</a:t>
            </a:r>
          </a:p>
          <a:p>
            <a:pPr>
              <a:spcBef>
                <a:spcPts val="200"/>
              </a:spcBef>
              <a:defRPr sz="850">
                <a:solidFill>
                  <a:srgbClr val="0F172A"/>
                </a:solidFill>
                <a:latin typeface="Calibri"/>
              </a:defRPr>
            </a:pPr>
            <a:r>
              <a:t>Strict JWT Middleware Route Protection</a:t>
            </a:r>
          </a:p>
        </p:txBody>
      </p:sp>
      <p:sp>
        <p:nvSpPr>
          <p:cNvPr id="18" name="Rounded Rectangle 17"/>
          <p:cNvSpPr/>
          <p:nvPr/>
        </p:nvSpPr>
        <p:spPr>
          <a:xfrm>
            <a:off x="7260336" y="1645920"/>
            <a:ext cx="1993392" cy="4480560"/>
          </a:xfrm>
          <a:prstGeom prst="roundRect">
            <a:avLst/>
          </a:prstGeom>
          <a:solidFill>
            <a:srgbClr val="FFFF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260336" y="1645920"/>
            <a:ext cx="1993392" cy="4572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60336" y="1719072"/>
            <a:ext cx="1993392" cy="320040"/>
          </a:xfrm>
          <a:prstGeom prst="rect">
            <a:avLst/>
          </a:prstGeom>
          <a:noFill/>
        </p:spPr>
        <p:txBody>
          <a:bodyPr wrap="none">
            <a:spAutoFit/>
          </a:bodyPr>
          <a:lstStyle/>
          <a:p>
            <a:pPr algn="ctr">
              <a:defRPr sz="1000" b="1">
                <a:solidFill>
                  <a:srgbClr val="FFFFFF"/>
                </a:solidFill>
                <a:latin typeface="Calibri"/>
              </a:defRPr>
            </a:pPr>
            <a:r>
              <a:t>ROLE: RECRUITER</a:t>
            </a:r>
          </a:p>
        </p:txBody>
      </p:sp>
      <p:sp>
        <p:nvSpPr>
          <p:cNvPr id="21" name="TextBox 20"/>
          <p:cNvSpPr txBox="1"/>
          <p:nvPr/>
        </p:nvSpPr>
        <p:spPr>
          <a:xfrm>
            <a:off x="7370064" y="2240280"/>
            <a:ext cx="1773936" cy="3749039"/>
          </a:xfrm>
          <a:prstGeom prst="rect">
            <a:avLst/>
          </a:prstGeom>
          <a:noFill/>
        </p:spPr>
        <p:txBody>
          <a:bodyPr wrap="square">
            <a:spAutoFit/>
          </a:bodyPr>
          <a:lstStyle/>
          <a:p>
            <a:pPr>
              <a:defRPr sz="1250" b="1">
                <a:solidFill>
                  <a:srgbClr val="0F172A"/>
                </a:solidFill>
                <a:latin typeface="Calibri"/>
              </a:defRPr>
            </a:pPr>
            <a:r>
              <a:t>Corporate Hiring Partner</a:t>
            </a:r>
          </a:p>
          <a:p>
            <a:pPr>
              <a:spcBef>
                <a:spcPts val="800"/>
              </a:spcBef>
              <a:defRPr sz="950">
                <a:solidFill>
                  <a:srgbClr val="64748B"/>
                </a:solidFill>
                <a:latin typeface="Calibri"/>
              </a:defRPr>
            </a:pPr>
            <a:r>
              <a:t>Job postings, applicant review, technical/HR interview evaluations, and digital offer release.</a:t>
            </a:r>
          </a:p>
          <a:p>
            <a:pPr>
              <a:spcBef>
                <a:spcPts val="1200"/>
              </a:spcBef>
              <a:defRPr sz="900" b="1">
                <a:solidFill>
                  <a:srgbClr val="F59E0B"/>
                </a:solidFill>
                <a:latin typeface="Calibri"/>
              </a:defRPr>
            </a:pPr>
            <a:r>
              <a:t>Permission Scope:</a:t>
            </a:r>
          </a:p>
          <a:p>
            <a:pPr>
              <a:spcBef>
                <a:spcPts val="200"/>
              </a:spcBef>
              <a:defRPr sz="850">
                <a:solidFill>
                  <a:srgbClr val="0F172A"/>
                </a:solidFill>
                <a:latin typeface="Calibri"/>
              </a:defRPr>
            </a:pPr>
            <a:r>
              <a:t>Strict JWT Middleware Route Protection</a:t>
            </a:r>
          </a:p>
        </p:txBody>
      </p:sp>
      <p:sp>
        <p:nvSpPr>
          <p:cNvPr id="22" name="Rounded Rectangle 21"/>
          <p:cNvSpPr/>
          <p:nvPr/>
        </p:nvSpPr>
        <p:spPr>
          <a:xfrm>
            <a:off x="9436608" y="1645920"/>
            <a:ext cx="1993392" cy="448056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436608" y="1645920"/>
            <a:ext cx="1993392" cy="4572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436608" y="1719072"/>
            <a:ext cx="1993392" cy="320040"/>
          </a:xfrm>
          <a:prstGeom prst="rect">
            <a:avLst/>
          </a:prstGeom>
          <a:noFill/>
        </p:spPr>
        <p:txBody>
          <a:bodyPr wrap="none">
            <a:spAutoFit/>
          </a:bodyPr>
          <a:lstStyle/>
          <a:p>
            <a:pPr algn="ctr">
              <a:defRPr sz="1000" b="1">
                <a:solidFill>
                  <a:srgbClr val="FFFFFF"/>
                </a:solidFill>
                <a:latin typeface="Calibri"/>
              </a:defRPr>
            </a:pPr>
            <a:r>
              <a:t>ROLE: STUDENT</a:t>
            </a:r>
          </a:p>
        </p:txBody>
      </p:sp>
      <p:sp>
        <p:nvSpPr>
          <p:cNvPr id="25" name="TextBox 24"/>
          <p:cNvSpPr txBox="1"/>
          <p:nvPr/>
        </p:nvSpPr>
        <p:spPr>
          <a:xfrm>
            <a:off x="9546336" y="2240280"/>
            <a:ext cx="1773936" cy="3749039"/>
          </a:xfrm>
          <a:prstGeom prst="rect">
            <a:avLst/>
          </a:prstGeom>
          <a:noFill/>
        </p:spPr>
        <p:txBody>
          <a:bodyPr wrap="square">
            <a:spAutoFit/>
          </a:bodyPr>
          <a:lstStyle/>
          <a:p>
            <a:pPr>
              <a:defRPr sz="1250" b="1">
                <a:solidFill>
                  <a:srgbClr val="0F172A"/>
                </a:solidFill>
                <a:latin typeface="Calibri"/>
              </a:defRPr>
            </a:pPr>
            <a:r>
              <a:t>Candidate / Job Seeker</a:t>
            </a:r>
          </a:p>
          <a:p>
            <a:pPr>
              <a:spcBef>
                <a:spcPts val="800"/>
              </a:spcBef>
              <a:defRPr sz="950">
                <a:solidFill>
                  <a:srgbClr val="64748B"/>
                </a:solidFill>
                <a:latin typeface="Calibri"/>
              </a:defRPr>
            </a:pPr>
            <a:r>
              <a:t>Profile management, resume upload, drive discovery, 1-click apply, and offer acceptance.</a:t>
            </a:r>
          </a:p>
          <a:p>
            <a:pPr>
              <a:spcBef>
                <a:spcPts val="1200"/>
              </a:spcBef>
              <a:defRPr sz="900" b="1">
                <a:solidFill>
                  <a:srgbClr val="10B981"/>
                </a:solidFill>
                <a:latin typeface="Calibri"/>
              </a:defRPr>
            </a:pPr>
            <a:r>
              <a:t>Permission Scope:</a:t>
            </a:r>
          </a:p>
          <a:p>
            <a:pPr>
              <a:spcBef>
                <a:spcPts val="200"/>
              </a:spcBef>
              <a:defRPr sz="850">
                <a:solidFill>
                  <a:srgbClr val="0F172A"/>
                </a:solidFill>
                <a:latin typeface="Calibri"/>
              </a:defRPr>
            </a:pPr>
            <a:r>
              <a:t>Strict JWT Middleware Route Protection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F8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46520"/>
            <a:ext cx="10728655" cy="320040"/>
          </a:xfrm>
          <a:prstGeom prst="rect">
            <a:avLst/>
          </a:prstGeom>
          <a:noFill/>
        </p:spPr>
        <p:txBody>
          <a:bodyPr wrap="square">
            <a:spAutoFit/>
          </a:bodyPr>
          <a:lstStyle/>
          <a:p>
            <a:pPr algn="ctr">
              <a:defRPr sz="850">
                <a:solidFill>
                  <a:srgbClr val="64748B"/>
                </a:solidFill>
                <a:latin typeface="Calibri"/>
              </a:defRPr>
            </a:pPr>
            <a:r>
              <a:t>UdyamPath (उद्यमपथ) — Tier-1 Campus Placement Operating System  |  Rahul Sharma  |  Slide 7 of 20</a:t>
            </a:r>
          </a:p>
        </p:txBody>
      </p:sp>
      <p:sp>
        <p:nvSpPr>
          <p:cNvPr id="5" name="TextBox 4"/>
          <p:cNvSpPr txBox="1"/>
          <p:nvPr/>
        </p:nvSpPr>
        <p:spPr>
          <a:xfrm>
            <a:off x="731520" y="320040"/>
            <a:ext cx="10728655" cy="1097280"/>
          </a:xfrm>
          <a:prstGeom prst="rect">
            <a:avLst/>
          </a:prstGeom>
          <a:noFill/>
        </p:spPr>
        <p:txBody>
          <a:bodyPr wrap="square" lIns="0" tIns="0" rIns="0" bIns="0">
            <a:spAutoFit/>
          </a:bodyPr>
          <a:lstStyle/>
          <a:p>
            <a:pPr>
              <a:defRPr sz="950" b="1">
                <a:solidFill>
                  <a:srgbClr val="2F8F78"/>
                </a:solidFill>
                <a:latin typeface="Calibri"/>
              </a:defRPr>
            </a:pPr>
            <a:r>
              <a:t>OPERATIONAL EXCELLENCE</a:t>
            </a:r>
          </a:p>
          <a:p>
            <a:pPr>
              <a:spcBef>
                <a:spcPts val="200"/>
              </a:spcBef>
              <a:defRPr sz="2200" b="1">
                <a:solidFill>
                  <a:srgbClr val="0F172A"/>
                </a:solidFill>
                <a:latin typeface="Calibri"/>
              </a:defRPr>
            </a:pPr>
            <a:r>
              <a:t>TPO Executive Command Hub &amp; Real-Time Analytics</a:t>
            </a:r>
          </a:p>
          <a:p>
            <a:pPr>
              <a:spcBef>
                <a:spcPts val="200"/>
              </a:spcBef>
              <a:defRPr sz="1100">
                <a:solidFill>
                  <a:srgbClr val="64748B"/>
                </a:solidFill>
                <a:latin typeface="Calibri"/>
              </a:defRPr>
            </a:pPr>
            <a:r>
              <a:t>Empowering placement directors with live institutional performance metrics.</a:t>
            </a:r>
          </a:p>
        </p:txBody>
      </p:sp>
      <p:sp>
        <p:nvSpPr>
          <p:cNvPr id="6" name="Rounded Rectangle 5"/>
          <p:cNvSpPr/>
          <p:nvPr/>
        </p:nvSpPr>
        <p:spPr>
          <a:xfrm>
            <a:off x="731520" y="1645920"/>
            <a:ext cx="2468880" cy="14630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1645920"/>
            <a:ext cx="2194560" cy="36576"/>
          </a:xfrm>
          <a:prstGeom prst="rect">
            <a:avLst/>
          </a:prstGeom>
          <a:solidFill>
            <a:srgbClr val="2F8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755648"/>
            <a:ext cx="2194560" cy="1280160"/>
          </a:xfrm>
          <a:prstGeom prst="rect">
            <a:avLst/>
          </a:prstGeom>
          <a:noFill/>
        </p:spPr>
        <p:txBody>
          <a:bodyPr wrap="square" lIns="0" tIns="0">
            <a:spAutoFit/>
          </a:bodyPr>
          <a:lstStyle/>
          <a:p>
            <a:pPr algn="ctr">
              <a:defRPr sz="2400" b="1">
                <a:solidFill>
                  <a:srgbClr val="2F8F78"/>
                </a:solidFill>
                <a:latin typeface="Calibri"/>
              </a:defRPr>
            </a:pPr>
            <a:r>
              <a:t>100</a:t>
            </a:r>
          </a:p>
          <a:p>
            <a:pPr algn="ctr">
              <a:spcBef>
                <a:spcPts val="300"/>
              </a:spcBef>
              <a:defRPr sz="950" b="1">
                <a:solidFill>
                  <a:srgbClr val="0F172A"/>
                </a:solidFill>
                <a:latin typeface="Calibri"/>
              </a:defRPr>
            </a:pPr>
            <a:r>
              <a:t>STUDENTS ENROLLED</a:t>
            </a:r>
          </a:p>
          <a:p>
            <a:pPr algn="ctr">
              <a:spcBef>
                <a:spcPts val="200"/>
              </a:spcBef>
              <a:defRPr sz="850">
                <a:solidFill>
                  <a:srgbClr val="64748B"/>
                </a:solidFill>
                <a:latin typeface="Calibri"/>
              </a:defRPr>
            </a:pPr>
            <a:r>
              <a:t>CSE, IT, ECE, MECH, CIVIL</a:t>
            </a:r>
          </a:p>
        </p:txBody>
      </p:sp>
      <p:sp>
        <p:nvSpPr>
          <p:cNvPr id="9" name="Rounded Rectangle 8"/>
          <p:cNvSpPr/>
          <p:nvPr/>
        </p:nvSpPr>
        <p:spPr>
          <a:xfrm>
            <a:off x="3474720" y="1645920"/>
            <a:ext cx="2468880" cy="14630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11880" y="1645920"/>
            <a:ext cx="2194560"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11880" y="1755648"/>
            <a:ext cx="2194560" cy="1280160"/>
          </a:xfrm>
          <a:prstGeom prst="rect">
            <a:avLst/>
          </a:prstGeom>
          <a:noFill/>
        </p:spPr>
        <p:txBody>
          <a:bodyPr wrap="square" lIns="0" tIns="0">
            <a:spAutoFit/>
          </a:bodyPr>
          <a:lstStyle/>
          <a:p>
            <a:pPr algn="ctr">
              <a:defRPr sz="2400" b="1">
                <a:solidFill>
                  <a:srgbClr val="10B981"/>
                </a:solidFill>
                <a:latin typeface="Calibri"/>
              </a:defRPr>
            </a:pPr>
            <a:r>
              <a:t>80.0%</a:t>
            </a:r>
          </a:p>
          <a:p>
            <a:pPr algn="ctr">
              <a:spcBef>
                <a:spcPts val="300"/>
              </a:spcBef>
              <a:defRPr sz="950" b="1">
                <a:solidFill>
                  <a:srgbClr val="0F172A"/>
                </a:solidFill>
                <a:latin typeface="Calibri"/>
              </a:defRPr>
            </a:pPr>
            <a:r>
              <a:t>PLACEMENT RATE</a:t>
            </a:r>
          </a:p>
          <a:p>
            <a:pPr algn="ctr">
              <a:spcBef>
                <a:spcPts val="200"/>
              </a:spcBef>
              <a:defRPr sz="850">
                <a:solidFill>
                  <a:srgbClr val="64748B"/>
                </a:solidFill>
                <a:latin typeface="Calibri"/>
              </a:defRPr>
            </a:pPr>
            <a:r>
              <a:t>80 of 100 Students Placed</a:t>
            </a:r>
          </a:p>
        </p:txBody>
      </p:sp>
      <p:sp>
        <p:nvSpPr>
          <p:cNvPr id="12" name="Rounded Rectangle 11"/>
          <p:cNvSpPr/>
          <p:nvPr/>
        </p:nvSpPr>
        <p:spPr>
          <a:xfrm>
            <a:off x="6217920" y="1645920"/>
            <a:ext cx="2468880" cy="14630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1645920"/>
            <a:ext cx="219456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755648"/>
            <a:ext cx="2194560" cy="1280160"/>
          </a:xfrm>
          <a:prstGeom prst="rect">
            <a:avLst/>
          </a:prstGeom>
          <a:noFill/>
        </p:spPr>
        <p:txBody>
          <a:bodyPr wrap="square" lIns="0" tIns="0">
            <a:spAutoFit/>
          </a:bodyPr>
          <a:lstStyle/>
          <a:p>
            <a:pPr algn="ctr">
              <a:defRPr sz="2400" b="1">
                <a:solidFill>
                  <a:srgbClr val="6366F1"/>
                </a:solidFill>
                <a:latin typeface="Calibri"/>
              </a:defRPr>
            </a:pPr>
            <a:r>
              <a:t>18.2 LPA</a:t>
            </a:r>
          </a:p>
          <a:p>
            <a:pPr algn="ctr">
              <a:spcBef>
                <a:spcPts val="300"/>
              </a:spcBef>
              <a:defRPr sz="950" b="1">
                <a:solidFill>
                  <a:srgbClr val="0F172A"/>
                </a:solidFill>
                <a:latin typeface="Calibri"/>
              </a:defRPr>
            </a:pPr>
            <a:r>
              <a:t>AVERAGE CTC</a:t>
            </a:r>
          </a:p>
          <a:p>
            <a:pPr algn="ctr">
              <a:spcBef>
                <a:spcPts val="200"/>
              </a:spcBef>
              <a:defRPr sz="850">
                <a:solidFill>
                  <a:srgbClr val="64748B"/>
                </a:solidFill>
                <a:latin typeface="Calibri"/>
              </a:defRPr>
            </a:pPr>
            <a:r>
              <a:t>Across 14 Tier-1 Recruiters</a:t>
            </a:r>
          </a:p>
        </p:txBody>
      </p:sp>
      <p:sp>
        <p:nvSpPr>
          <p:cNvPr id="15" name="Rounded Rectangle 14"/>
          <p:cNvSpPr/>
          <p:nvPr/>
        </p:nvSpPr>
        <p:spPr>
          <a:xfrm>
            <a:off x="8961120" y="1645920"/>
            <a:ext cx="2468880" cy="14630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098280" y="1645920"/>
            <a:ext cx="2194560" cy="365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98280" y="1755648"/>
            <a:ext cx="2194560" cy="1280160"/>
          </a:xfrm>
          <a:prstGeom prst="rect">
            <a:avLst/>
          </a:prstGeom>
          <a:noFill/>
        </p:spPr>
        <p:txBody>
          <a:bodyPr wrap="square" lIns="0" tIns="0">
            <a:spAutoFit/>
          </a:bodyPr>
          <a:lstStyle/>
          <a:p>
            <a:pPr algn="ctr">
              <a:defRPr sz="2400" b="1">
                <a:solidFill>
                  <a:srgbClr val="F59E0B"/>
                </a:solidFill>
                <a:latin typeface="Calibri"/>
              </a:defRPr>
            </a:pPr>
            <a:r>
              <a:t>48.0 LPA</a:t>
            </a:r>
          </a:p>
          <a:p>
            <a:pPr algn="ctr">
              <a:spcBef>
                <a:spcPts val="300"/>
              </a:spcBef>
              <a:defRPr sz="950" b="1">
                <a:solidFill>
                  <a:srgbClr val="0F172A"/>
                </a:solidFill>
                <a:latin typeface="Calibri"/>
              </a:defRPr>
            </a:pPr>
            <a:r>
              <a:t>PEAK CTC PACKAGE</a:t>
            </a:r>
          </a:p>
          <a:p>
            <a:pPr algn="ctr">
              <a:spcBef>
                <a:spcPts val="200"/>
              </a:spcBef>
              <a:defRPr sz="850">
                <a:solidFill>
                  <a:srgbClr val="64748B"/>
                </a:solidFill>
                <a:latin typeface="Calibri"/>
              </a:defRPr>
            </a:pPr>
            <a:r>
              <a:t>Highest Institutional Offer</a:t>
            </a:r>
          </a:p>
        </p:txBody>
      </p:sp>
      <p:sp>
        <p:nvSpPr>
          <p:cNvPr id="18" name="Rounded Rectangle 17"/>
          <p:cNvSpPr/>
          <p:nvPr/>
        </p:nvSpPr>
        <p:spPr>
          <a:xfrm>
            <a:off x="731520" y="3337560"/>
            <a:ext cx="3383280" cy="27889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1520" y="3337560"/>
            <a:ext cx="3383280" cy="73152"/>
          </a:xfrm>
          <a:prstGeom prst="rect">
            <a:avLst/>
          </a:prstGeom>
          <a:solidFill>
            <a:srgbClr val="2F8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502152"/>
            <a:ext cx="3017520" cy="2514600"/>
          </a:xfrm>
          <a:prstGeom prst="rect">
            <a:avLst/>
          </a:prstGeom>
          <a:noFill/>
        </p:spPr>
        <p:txBody>
          <a:bodyPr wrap="square" lIns="0" tIns="0">
            <a:spAutoFit/>
          </a:bodyPr>
          <a:lstStyle/>
          <a:p>
            <a:pPr>
              <a:defRPr sz="850" b="1">
                <a:solidFill>
                  <a:srgbClr val="2F8F78"/>
                </a:solidFill>
                <a:latin typeface="Calibri"/>
              </a:defRPr>
            </a:pPr>
            <a:r>
              <a:t>DRIVE ORCHESTRATION</a:t>
            </a:r>
          </a:p>
          <a:p>
            <a:pPr>
              <a:spcBef>
                <a:spcPts val="300"/>
              </a:spcBef>
              <a:defRPr sz="1350" b="1">
                <a:solidFill>
                  <a:srgbClr val="0F172A"/>
                </a:solidFill>
                <a:latin typeface="Calibri"/>
              </a:defRPr>
            </a:pPr>
            <a:r>
              <a:t>Live Drive Lifecycle Management</a:t>
            </a:r>
          </a:p>
          <a:p>
            <a:pPr>
              <a:spcBef>
                <a:spcPts val="500"/>
              </a:spcBef>
              <a:defRPr sz="950">
                <a:solidFill>
                  <a:srgbClr val="0F172A"/>
                </a:solidFill>
                <a:latin typeface="Calibri"/>
              </a:defRPr>
            </a:pPr>
            <a:r>
              <a:t>▪  Create full-time, internship, or hybrid placement drives in seconds.</a:t>
            </a:r>
          </a:p>
          <a:p>
            <a:pPr>
              <a:spcBef>
                <a:spcPts val="500"/>
              </a:spcBef>
              <a:defRPr sz="950">
                <a:solidFill>
                  <a:srgbClr val="0F172A"/>
                </a:solidFill>
                <a:latin typeface="Calibri"/>
              </a:defRPr>
            </a:pPr>
            <a:r>
              <a:t>▪  Define min CGPA (e.g. 7.5), max active backlogs (0-2), eligible branches, and CTC packages.</a:t>
            </a:r>
          </a:p>
          <a:p>
            <a:pPr>
              <a:spcBef>
                <a:spcPts val="500"/>
              </a:spcBef>
              <a:defRPr sz="950">
                <a:solidFill>
                  <a:srgbClr val="0F172A"/>
                </a:solidFill>
                <a:latin typeface="Calibri"/>
              </a:defRPr>
            </a:pPr>
            <a:r>
              <a:t>▪  Real-time application countdown timer and dynamic drive status toggling (Open, In Progress, Closed).</a:t>
            </a:r>
          </a:p>
        </p:txBody>
      </p:sp>
      <p:sp>
        <p:nvSpPr>
          <p:cNvPr id="21" name="Rounded Rectangle 20"/>
          <p:cNvSpPr/>
          <p:nvPr/>
        </p:nvSpPr>
        <p:spPr>
          <a:xfrm>
            <a:off x="4389120" y="3337560"/>
            <a:ext cx="3383280" cy="27889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89120" y="3337560"/>
            <a:ext cx="3383280" cy="73152"/>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0" y="3502152"/>
            <a:ext cx="3017520" cy="2514600"/>
          </a:xfrm>
          <a:prstGeom prst="rect">
            <a:avLst/>
          </a:prstGeom>
          <a:noFill/>
        </p:spPr>
        <p:txBody>
          <a:bodyPr wrap="square" lIns="0" tIns="0">
            <a:spAutoFit/>
          </a:bodyPr>
          <a:lstStyle/>
          <a:p>
            <a:pPr>
              <a:defRPr sz="850" b="1">
                <a:solidFill>
                  <a:srgbClr val="6366F1"/>
                </a:solidFill>
                <a:latin typeface="Calibri"/>
              </a:defRPr>
            </a:pPr>
            <a:r>
              <a:t>CANDIDATE PIPELINE</a:t>
            </a:r>
          </a:p>
          <a:p>
            <a:pPr>
              <a:spcBef>
                <a:spcPts val="300"/>
              </a:spcBef>
              <a:defRPr sz="1350" b="1">
                <a:solidFill>
                  <a:srgbClr val="0F172A"/>
                </a:solidFill>
                <a:latin typeface="Calibri"/>
              </a:defRPr>
            </a:pPr>
            <a:r>
              <a:t>Dynamic Shortlist &amp; Evaluation Hub</a:t>
            </a:r>
          </a:p>
          <a:p>
            <a:pPr>
              <a:spcBef>
                <a:spcPts val="500"/>
              </a:spcBef>
              <a:defRPr sz="950">
                <a:solidFill>
                  <a:srgbClr val="0F172A"/>
                </a:solidFill>
                <a:latin typeface="Calibri"/>
              </a:defRPr>
            </a:pPr>
            <a:r>
              <a:t>▪  Instantly view verified candidate rosters with live application timestamps.</a:t>
            </a:r>
          </a:p>
          <a:p>
            <a:pPr>
              <a:spcBef>
                <a:spcPts val="500"/>
              </a:spcBef>
              <a:defRPr sz="950">
                <a:solidFill>
                  <a:srgbClr val="0F172A"/>
                </a:solidFill>
                <a:latin typeface="Calibri"/>
              </a:defRPr>
            </a:pPr>
            <a:r>
              <a:t>▪  Bulk shortlist or advance applicants across recruitment stages with 1 click.</a:t>
            </a:r>
          </a:p>
          <a:p>
            <a:pPr>
              <a:spcBef>
                <a:spcPts val="500"/>
              </a:spcBef>
              <a:defRPr sz="950">
                <a:solidFill>
                  <a:srgbClr val="0F172A"/>
                </a:solidFill>
                <a:latin typeface="Calibri"/>
              </a:defRPr>
            </a:pPr>
            <a:r>
              <a:t>▪  Filter candidates dynamically by department, CGPA percentile, and skill sets.</a:t>
            </a:r>
          </a:p>
        </p:txBody>
      </p:sp>
      <p:sp>
        <p:nvSpPr>
          <p:cNvPr id="24" name="Rounded Rectangle 23"/>
          <p:cNvSpPr/>
          <p:nvPr/>
        </p:nvSpPr>
        <p:spPr>
          <a:xfrm>
            <a:off x="8046720" y="3337560"/>
            <a:ext cx="3383280" cy="27889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046720" y="3337560"/>
            <a:ext cx="3383280" cy="73152"/>
          </a:xfrm>
          <a:prstGeom prst="rect">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0" y="3502152"/>
            <a:ext cx="3017520" cy="2514600"/>
          </a:xfrm>
          <a:prstGeom prst="rect">
            <a:avLst/>
          </a:prstGeom>
          <a:noFill/>
        </p:spPr>
        <p:txBody>
          <a:bodyPr wrap="square" lIns="0" tIns="0">
            <a:spAutoFit/>
          </a:bodyPr>
          <a:lstStyle/>
          <a:p>
            <a:pPr>
              <a:defRPr sz="850" b="1">
                <a:solidFill>
                  <a:srgbClr val="9333EA"/>
                </a:solidFill>
                <a:latin typeface="Calibri"/>
              </a:defRPr>
            </a:pPr>
            <a:r>
              <a:t>ACCREDITATION EXPORT</a:t>
            </a:r>
          </a:p>
          <a:p>
            <a:pPr>
              <a:spcBef>
                <a:spcPts val="300"/>
              </a:spcBef>
              <a:defRPr sz="1350" b="1">
                <a:solidFill>
                  <a:srgbClr val="0F172A"/>
                </a:solidFill>
                <a:latin typeface="Calibri"/>
              </a:defRPr>
            </a:pPr>
            <a:r>
              <a:t>Instant Institutional Compliance Export</a:t>
            </a:r>
          </a:p>
          <a:p>
            <a:pPr>
              <a:spcBef>
                <a:spcPts val="500"/>
              </a:spcBef>
              <a:defRPr sz="950">
                <a:solidFill>
                  <a:srgbClr val="0F172A"/>
                </a:solidFill>
                <a:latin typeface="Calibri"/>
              </a:defRPr>
            </a:pPr>
            <a:r>
              <a:t>▪  Generate NIRF Table 5.1 compliant placement statistics in under 3 seconds.</a:t>
            </a:r>
          </a:p>
          <a:p>
            <a:pPr>
              <a:spcBef>
                <a:spcPts val="500"/>
              </a:spcBef>
              <a:defRPr sz="950">
                <a:solidFill>
                  <a:srgbClr val="0F172A"/>
                </a:solidFill>
                <a:latin typeface="Calibri"/>
              </a:defRPr>
            </a:pPr>
            <a:r>
              <a:t>▪  Export audit-ready CSV/Excel files containing student roll numbers, employers, and CTC.</a:t>
            </a:r>
          </a:p>
          <a:p>
            <a:pPr>
              <a:spcBef>
                <a:spcPts val="500"/>
              </a:spcBef>
              <a:defRPr sz="950">
                <a:solidFill>
                  <a:srgbClr val="0F172A"/>
                </a:solidFill>
                <a:latin typeface="Calibri"/>
              </a:defRPr>
            </a:pPr>
            <a:r>
              <a:t>▪  Complete compliance with NAAC SSR Metric 5.2.1 for institutional ranking defense.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F8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46520"/>
            <a:ext cx="10728655" cy="320040"/>
          </a:xfrm>
          <a:prstGeom prst="rect">
            <a:avLst/>
          </a:prstGeom>
          <a:noFill/>
        </p:spPr>
        <p:txBody>
          <a:bodyPr wrap="square">
            <a:spAutoFit/>
          </a:bodyPr>
          <a:lstStyle/>
          <a:p>
            <a:pPr algn="ctr">
              <a:defRPr sz="850">
                <a:solidFill>
                  <a:srgbClr val="64748B"/>
                </a:solidFill>
                <a:latin typeface="Calibri"/>
              </a:defRPr>
            </a:pPr>
            <a:r>
              <a:t>UdyamPath (उद्यमपथ) — Tier-1 Campus Placement Operating System  |  Rahul Sharma  |  Slide 8 of 20</a:t>
            </a:r>
          </a:p>
        </p:txBody>
      </p:sp>
      <p:sp>
        <p:nvSpPr>
          <p:cNvPr id="5" name="TextBox 4"/>
          <p:cNvSpPr txBox="1"/>
          <p:nvPr/>
        </p:nvSpPr>
        <p:spPr>
          <a:xfrm>
            <a:off x="731520" y="320040"/>
            <a:ext cx="10728655" cy="1097280"/>
          </a:xfrm>
          <a:prstGeom prst="rect">
            <a:avLst/>
          </a:prstGeom>
          <a:noFill/>
        </p:spPr>
        <p:txBody>
          <a:bodyPr wrap="square" lIns="0" tIns="0" rIns="0" bIns="0">
            <a:spAutoFit/>
          </a:bodyPr>
          <a:lstStyle/>
          <a:p>
            <a:pPr>
              <a:defRPr sz="950" b="1">
                <a:solidFill>
                  <a:srgbClr val="2F8F78"/>
                </a:solidFill>
                <a:latin typeface="Calibri"/>
              </a:defRPr>
            </a:pPr>
            <a:r>
              <a:t>ALGORITHMIC INTEGRITY</a:t>
            </a:r>
          </a:p>
          <a:p>
            <a:pPr>
              <a:spcBef>
                <a:spcPts val="200"/>
              </a:spcBef>
              <a:defRPr sz="2200" b="1">
                <a:solidFill>
                  <a:srgbClr val="0F172A"/>
                </a:solidFill>
                <a:latin typeface="Calibri"/>
              </a:defRPr>
            </a:pPr>
            <a:r>
              <a:t>Automated Eligibility Engine: Deterministic Decision Logic</a:t>
            </a:r>
          </a:p>
          <a:p>
            <a:pPr>
              <a:spcBef>
                <a:spcPts val="200"/>
              </a:spcBef>
              <a:defRPr sz="1100">
                <a:solidFill>
                  <a:srgbClr val="64748B"/>
                </a:solidFill>
                <a:latin typeface="Calibri"/>
              </a:defRPr>
            </a:pPr>
            <a:r>
              <a:t>Instant sub-millisecond evaluation preventing fraudulent or unqualified applications.</a:t>
            </a:r>
          </a:p>
        </p:txBody>
      </p:sp>
      <p:sp>
        <p:nvSpPr>
          <p:cNvPr id="6" name="Rounded Rectangle 5"/>
          <p:cNvSpPr/>
          <p:nvPr/>
        </p:nvSpPr>
        <p:spPr>
          <a:xfrm>
            <a:off x="731520" y="1645920"/>
            <a:ext cx="1993392" cy="3108960"/>
          </a:xfrm>
          <a:prstGeom prst="roundRect">
            <a:avLst/>
          </a:prstGeom>
          <a:solidFill>
            <a:srgbClr val="FFFFFF"/>
          </a:solidFill>
          <a:ln w="19050">
            <a:solidFill>
              <a:srgbClr val="2F8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45920"/>
            <a:ext cx="1993392" cy="502920"/>
          </a:xfrm>
          <a:prstGeom prst="rect">
            <a:avLst/>
          </a:prstGeom>
          <a:solidFill>
            <a:srgbClr val="2F8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737360"/>
            <a:ext cx="1993392" cy="365760"/>
          </a:xfrm>
          <a:prstGeom prst="rect">
            <a:avLst/>
          </a:prstGeom>
          <a:noFill/>
        </p:spPr>
        <p:txBody>
          <a:bodyPr wrap="none">
            <a:spAutoFit/>
          </a:bodyPr>
          <a:lstStyle/>
          <a:p>
            <a:pPr algn="ctr">
              <a:defRPr sz="900" b="1">
                <a:solidFill>
                  <a:srgbClr val="FFFFFF"/>
                </a:solidFill>
                <a:latin typeface="Calibri"/>
              </a:defRPr>
            </a:pPr>
            <a:r>
              <a:t>GATE 1: CGPA CHECK</a:t>
            </a:r>
          </a:p>
        </p:txBody>
      </p:sp>
      <p:sp>
        <p:nvSpPr>
          <p:cNvPr id="9" name="TextBox 8"/>
          <p:cNvSpPr txBox="1"/>
          <p:nvPr/>
        </p:nvSpPr>
        <p:spPr>
          <a:xfrm>
            <a:off x="822960" y="2240280"/>
            <a:ext cx="1810512" cy="2377440"/>
          </a:xfrm>
          <a:prstGeom prst="rect">
            <a:avLst/>
          </a:prstGeom>
          <a:noFill/>
        </p:spPr>
        <p:txBody>
          <a:bodyPr wrap="square">
            <a:spAutoFit/>
          </a:bodyPr>
          <a:lstStyle/>
          <a:p>
            <a:pPr>
              <a:defRPr sz="1100" b="1">
                <a:solidFill>
                  <a:srgbClr val="0F172A"/>
                </a:solidFill>
                <a:latin typeface="Calibri"/>
              </a:defRPr>
            </a:pPr>
            <a:r>
              <a:t>Candidate CGPA &gt;= Drive Min CGPA</a:t>
            </a:r>
          </a:p>
          <a:p>
            <a:pPr>
              <a:spcBef>
                <a:spcPts val="600"/>
              </a:spcBef>
              <a:defRPr sz="900">
                <a:solidFill>
                  <a:srgbClr val="64748B"/>
                </a:solidFill>
                <a:latin typeface="Calibri"/>
              </a:defRPr>
            </a:pPr>
            <a:r>
              <a:t>Checks academic standing. E.g., student CGPA 8.2 &gt;= requirement 7.5.</a:t>
            </a:r>
          </a:p>
        </p:txBody>
      </p:sp>
      <p:sp>
        <p:nvSpPr>
          <p:cNvPr id="10" name="Right Arrow 9"/>
          <p:cNvSpPr/>
          <p:nvPr/>
        </p:nvSpPr>
        <p:spPr>
          <a:xfrm>
            <a:off x="2752344" y="3017520"/>
            <a:ext cx="128016" cy="228600"/>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907792" y="1645920"/>
            <a:ext cx="1993392" cy="3108960"/>
          </a:xfrm>
          <a:prstGeom prst="roundRect">
            <a:avLst/>
          </a:prstGeom>
          <a:solidFill>
            <a:srgbClr val="FFFFFF"/>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907792" y="1645920"/>
            <a:ext cx="1993392" cy="50292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07792" y="1737360"/>
            <a:ext cx="1993392" cy="365760"/>
          </a:xfrm>
          <a:prstGeom prst="rect">
            <a:avLst/>
          </a:prstGeom>
          <a:noFill/>
        </p:spPr>
        <p:txBody>
          <a:bodyPr wrap="none">
            <a:spAutoFit/>
          </a:bodyPr>
          <a:lstStyle/>
          <a:p>
            <a:pPr algn="ctr">
              <a:defRPr sz="900" b="1">
                <a:solidFill>
                  <a:srgbClr val="FFFFFF"/>
                </a:solidFill>
                <a:latin typeface="Calibri"/>
              </a:defRPr>
            </a:pPr>
            <a:r>
              <a:t>GATE 2: BACKLOG FILTER</a:t>
            </a:r>
          </a:p>
        </p:txBody>
      </p:sp>
      <p:sp>
        <p:nvSpPr>
          <p:cNvPr id="14" name="TextBox 13"/>
          <p:cNvSpPr txBox="1"/>
          <p:nvPr/>
        </p:nvSpPr>
        <p:spPr>
          <a:xfrm>
            <a:off x="2999232" y="2240280"/>
            <a:ext cx="1810512" cy="2377440"/>
          </a:xfrm>
          <a:prstGeom prst="rect">
            <a:avLst/>
          </a:prstGeom>
          <a:noFill/>
        </p:spPr>
        <p:txBody>
          <a:bodyPr wrap="square">
            <a:spAutoFit/>
          </a:bodyPr>
          <a:lstStyle/>
          <a:p>
            <a:pPr>
              <a:defRPr sz="1100" b="1">
                <a:solidFill>
                  <a:srgbClr val="0F172A"/>
                </a:solidFill>
                <a:latin typeface="Calibri"/>
              </a:defRPr>
            </a:pPr>
            <a:r>
              <a:t>Active Backlogs &lt;= Max Backlogs Allowed</a:t>
            </a:r>
          </a:p>
          <a:p>
            <a:pPr>
              <a:spcBef>
                <a:spcPts val="600"/>
              </a:spcBef>
              <a:defRPr sz="900">
                <a:solidFill>
                  <a:srgbClr val="64748B"/>
                </a:solidFill>
                <a:latin typeface="Calibri"/>
              </a:defRPr>
            </a:pPr>
            <a:r>
              <a:t>Enforces strict academic criteria. E.g., student has 0 active backlogs.</a:t>
            </a:r>
          </a:p>
        </p:txBody>
      </p:sp>
      <p:sp>
        <p:nvSpPr>
          <p:cNvPr id="15" name="Right Arrow 14"/>
          <p:cNvSpPr/>
          <p:nvPr/>
        </p:nvSpPr>
        <p:spPr>
          <a:xfrm>
            <a:off x="4928616" y="3017520"/>
            <a:ext cx="128016" cy="228600"/>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084064" y="1645920"/>
            <a:ext cx="1993392" cy="3108960"/>
          </a:xfrm>
          <a:prstGeom prst="roundRect">
            <a:avLst/>
          </a:prstGeom>
          <a:solidFill>
            <a:srgbClr val="FFFFFF"/>
          </a:solidFill>
          <a:ln w="1905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84064" y="1645920"/>
            <a:ext cx="1993392" cy="502920"/>
          </a:xfrm>
          <a:prstGeom prst="rect">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84064" y="1737360"/>
            <a:ext cx="1993392" cy="365760"/>
          </a:xfrm>
          <a:prstGeom prst="rect">
            <a:avLst/>
          </a:prstGeom>
          <a:noFill/>
        </p:spPr>
        <p:txBody>
          <a:bodyPr wrap="none">
            <a:spAutoFit/>
          </a:bodyPr>
          <a:lstStyle/>
          <a:p>
            <a:pPr algn="ctr">
              <a:defRPr sz="900" b="1">
                <a:solidFill>
                  <a:srgbClr val="FFFFFF"/>
                </a:solidFill>
                <a:latin typeface="Calibri"/>
              </a:defRPr>
            </a:pPr>
            <a:r>
              <a:t>GATE 3: BRANCH MATCH</a:t>
            </a:r>
          </a:p>
        </p:txBody>
      </p:sp>
      <p:sp>
        <p:nvSpPr>
          <p:cNvPr id="19" name="TextBox 18"/>
          <p:cNvSpPr txBox="1"/>
          <p:nvPr/>
        </p:nvSpPr>
        <p:spPr>
          <a:xfrm>
            <a:off x="5175504" y="2240280"/>
            <a:ext cx="1810512" cy="2377440"/>
          </a:xfrm>
          <a:prstGeom prst="rect">
            <a:avLst/>
          </a:prstGeom>
          <a:noFill/>
        </p:spPr>
        <p:txBody>
          <a:bodyPr wrap="square">
            <a:spAutoFit/>
          </a:bodyPr>
          <a:lstStyle/>
          <a:p>
            <a:pPr>
              <a:defRPr sz="1100" b="1">
                <a:solidFill>
                  <a:srgbClr val="0F172A"/>
                </a:solidFill>
                <a:latin typeface="Calibri"/>
              </a:defRPr>
            </a:pPr>
            <a:r>
              <a:t>Candidate Branch in Drive Eligible Branches</a:t>
            </a:r>
          </a:p>
          <a:p>
            <a:pPr>
              <a:spcBef>
                <a:spcPts val="600"/>
              </a:spcBef>
              <a:defRPr sz="900">
                <a:solidFill>
                  <a:srgbClr val="64748B"/>
                </a:solidFill>
                <a:latin typeface="Calibri"/>
              </a:defRPr>
            </a:pPr>
            <a:r>
              <a:t>Validates discipline. E.g., 'CSE' in ['CSE', 'IT', 'ECE'].</a:t>
            </a:r>
          </a:p>
        </p:txBody>
      </p:sp>
      <p:sp>
        <p:nvSpPr>
          <p:cNvPr id="20" name="Right Arrow 19"/>
          <p:cNvSpPr/>
          <p:nvPr/>
        </p:nvSpPr>
        <p:spPr>
          <a:xfrm>
            <a:off x="7104888" y="3017520"/>
            <a:ext cx="128016" cy="228600"/>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260336" y="1645920"/>
            <a:ext cx="1993392" cy="3108960"/>
          </a:xfrm>
          <a:prstGeom prst="roundRect">
            <a:avLst/>
          </a:prstGeom>
          <a:solidFill>
            <a:srgbClr val="FFFF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60336" y="1645920"/>
            <a:ext cx="1993392" cy="5029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60336" y="1737360"/>
            <a:ext cx="1993392" cy="365760"/>
          </a:xfrm>
          <a:prstGeom prst="rect">
            <a:avLst/>
          </a:prstGeom>
          <a:noFill/>
        </p:spPr>
        <p:txBody>
          <a:bodyPr wrap="none">
            <a:spAutoFit/>
          </a:bodyPr>
          <a:lstStyle/>
          <a:p>
            <a:pPr algn="ctr">
              <a:defRPr sz="900" b="1">
                <a:solidFill>
                  <a:srgbClr val="FFFFFF"/>
                </a:solidFill>
                <a:latin typeface="Calibri"/>
              </a:defRPr>
            </a:pPr>
            <a:r>
              <a:t>GATE 4: BATCH VERIFY</a:t>
            </a:r>
          </a:p>
        </p:txBody>
      </p:sp>
      <p:sp>
        <p:nvSpPr>
          <p:cNvPr id="24" name="TextBox 23"/>
          <p:cNvSpPr txBox="1"/>
          <p:nvPr/>
        </p:nvSpPr>
        <p:spPr>
          <a:xfrm>
            <a:off x="7351776" y="2240280"/>
            <a:ext cx="1810512" cy="2377440"/>
          </a:xfrm>
          <a:prstGeom prst="rect">
            <a:avLst/>
          </a:prstGeom>
          <a:noFill/>
        </p:spPr>
        <p:txBody>
          <a:bodyPr wrap="square">
            <a:spAutoFit/>
          </a:bodyPr>
          <a:lstStyle/>
          <a:p>
            <a:pPr>
              <a:defRPr sz="1100" b="1">
                <a:solidFill>
                  <a:srgbClr val="0F172A"/>
                </a:solidFill>
                <a:latin typeface="Calibri"/>
              </a:defRPr>
            </a:pPr>
            <a:r>
              <a:t>Candidate Batch == Drive Target Batch</a:t>
            </a:r>
          </a:p>
          <a:p>
            <a:pPr>
              <a:spcBef>
                <a:spcPts val="600"/>
              </a:spcBef>
              <a:defRPr sz="900">
                <a:solidFill>
                  <a:srgbClr val="64748B"/>
                </a:solidFill>
                <a:latin typeface="Calibri"/>
              </a:defRPr>
            </a:pPr>
            <a:r>
              <a:t>Prevents cross-batch submissions. E.g., 2026 Graduating Batch.</a:t>
            </a:r>
          </a:p>
        </p:txBody>
      </p:sp>
      <p:sp>
        <p:nvSpPr>
          <p:cNvPr id="25" name="Right Arrow 24"/>
          <p:cNvSpPr/>
          <p:nvPr/>
        </p:nvSpPr>
        <p:spPr>
          <a:xfrm>
            <a:off x="9281160" y="3017520"/>
            <a:ext cx="128016" cy="228600"/>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436608" y="1645920"/>
            <a:ext cx="1993392" cy="310896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436608" y="1645920"/>
            <a:ext cx="1993392" cy="5029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436608" y="1737360"/>
            <a:ext cx="1993392" cy="365760"/>
          </a:xfrm>
          <a:prstGeom prst="rect">
            <a:avLst/>
          </a:prstGeom>
          <a:noFill/>
        </p:spPr>
        <p:txBody>
          <a:bodyPr wrap="none">
            <a:spAutoFit/>
          </a:bodyPr>
          <a:lstStyle/>
          <a:p>
            <a:pPr algn="ctr">
              <a:defRPr sz="900" b="1">
                <a:solidFill>
                  <a:srgbClr val="FFFFFF"/>
                </a:solidFill>
                <a:latin typeface="Calibri"/>
              </a:defRPr>
            </a:pPr>
            <a:r>
              <a:t>GATE 5: DUPLICATE GUARD</a:t>
            </a:r>
          </a:p>
        </p:txBody>
      </p:sp>
      <p:sp>
        <p:nvSpPr>
          <p:cNvPr id="29" name="TextBox 28"/>
          <p:cNvSpPr txBox="1"/>
          <p:nvPr/>
        </p:nvSpPr>
        <p:spPr>
          <a:xfrm>
            <a:off x="9528048" y="2240280"/>
            <a:ext cx="1810512" cy="2377440"/>
          </a:xfrm>
          <a:prstGeom prst="rect">
            <a:avLst/>
          </a:prstGeom>
          <a:noFill/>
        </p:spPr>
        <p:txBody>
          <a:bodyPr wrap="square">
            <a:spAutoFit/>
          </a:bodyPr>
          <a:lstStyle/>
          <a:p>
            <a:pPr>
              <a:defRPr sz="1100" b="1">
                <a:solidFill>
                  <a:srgbClr val="0F172A"/>
                </a:solidFill>
                <a:latin typeface="Calibri"/>
              </a:defRPr>
            </a:pPr>
            <a:r>
              <a:t>Unique Index { student: 1, drive: 1 }</a:t>
            </a:r>
          </a:p>
          <a:p>
            <a:pPr>
              <a:spcBef>
                <a:spcPts val="600"/>
              </a:spcBef>
              <a:defRPr sz="900">
                <a:solidFill>
                  <a:srgbClr val="64748B"/>
                </a:solidFill>
                <a:latin typeface="Calibri"/>
              </a:defRPr>
            </a:pPr>
            <a:r>
              <a:t>Guarantees exactly one application per student per company drive.</a:t>
            </a:r>
          </a:p>
        </p:txBody>
      </p:sp>
      <p:sp>
        <p:nvSpPr>
          <p:cNvPr id="30" name="Rounded Rectangle 29"/>
          <p:cNvSpPr/>
          <p:nvPr/>
        </p:nvSpPr>
        <p:spPr>
          <a:xfrm>
            <a:off x="731520" y="4937760"/>
            <a:ext cx="10728655" cy="1188720"/>
          </a:xfrm>
          <a:prstGeom prst="roundRect">
            <a:avLst/>
          </a:prstGeom>
          <a:solidFill>
            <a:srgbClr val="E6F6F1"/>
          </a:solidFill>
          <a:ln w="12700">
            <a:solidFill>
              <a:srgbClr val="2F8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983480"/>
            <a:ext cx="10362895" cy="1005840"/>
          </a:xfrm>
          <a:prstGeom prst="rect">
            <a:avLst/>
          </a:prstGeom>
          <a:noFill/>
        </p:spPr>
        <p:txBody>
          <a:bodyPr wrap="square">
            <a:spAutoFit/>
          </a:bodyPr>
          <a:lstStyle/>
          <a:p>
            <a:pPr>
              <a:defRPr sz="950" b="1">
                <a:solidFill>
                  <a:srgbClr val="2F8F78"/>
                </a:solidFill>
                <a:latin typeface="Calibri"/>
              </a:defRPr>
            </a:pPr>
            <a:r>
              <a:t>DETERMINISTIC HTTP API OUTCOME CODES</a:t>
            </a:r>
          </a:p>
          <a:p>
            <a:pPr>
              <a:spcBef>
                <a:spcPts val="300"/>
              </a:spcBef>
              <a:defRPr sz="950">
                <a:solidFill>
                  <a:srgbClr val="0F172A"/>
                </a:solidFill>
                <a:latin typeface="Calibri"/>
              </a:defRPr>
            </a:pPr>
            <a:r>
              <a:t>• PASS (201 Created): Application persisted in MongoDB; student receives immediate visual confirmation badge.</a:t>
            </a:r>
            <a:br/>
            <a:r>
              <a:t>• FAIL (403 Forbidden): Rejection intercepted at API boundary with explicit reason (e.g., 'CGPA 7.1 is below required 7.50').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F8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46520"/>
            <a:ext cx="10728655" cy="320040"/>
          </a:xfrm>
          <a:prstGeom prst="rect">
            <a:avLst/>
          </a:prstGeom>
          <a:noFill/>
        </p:spPr>
        <p:txBody>
          <a:bodyPr wrap="square">
            <a:spAutoFit/>
          </a:bodyPr>
          <a:lstStyle/>
          <a:p>
            <a:pPr algn="ctr">
              <a:defRPr sz="850">
                <a:solidFill>
                  <a:srgbClr val="64748B"/>
                </a:solidFill>
                <a:latin typeface="Calibri"/>
              </a:defRPr>
            </a:pPr>
            <a:r>
              <a:t>UdyamPath (उद्यमपथ) — Tier-1 Campus Placement Operating System  |  Rahul Sharma  |  Slide 9 of 20</a:t>
            </a:r>
          </a:p>
        </p:txBody>
      </p:sp>
      <p:sp>
        <p:nvSpPr>
          <p:cNvPr id="5" name="TextBox 4"/>
          <p:cNvSpPr txBox="1"/>
          <p:nvPr/>
        </p:nvSpPr>
        <p:spPr>
          <a:xfrm>
            <a:off x="731520" y="320040"/>
            <a:ext cx="10728655" cy="1097280"/>
          </a:xfrm>
          <a:prstGeom prst="rect">
            <a:avLst/>
          </a:prstGeom>
          <a:noFill/>
        </p:spPr>
        <p:txBody>
          <a:bodyPr wrap="square" lIns="0" tIns="0" rIns="0" bIns="0">
            <a:spAutoFit/>
          </a:bodyPr>
          <a:lstStyle/>
          <a:p>
            <a:pPr>
              <a:defRPr sz="950" b="1">
                <a:solidFill>
                  <a:srgbClr val="2F8F78"/>
                </a:solidFill>
                <a:latin typeface="Calibri"/>
              </a:defRPr>
            </a:pPr>
            <a:r>
              <a:t>RECRUITMENT PIPELINE</a:t>
            </a:r>
          </a:p>
          <a:p>
            <a:pPr>
              <a:spcBef>
                <a:spcPts val="200"/>
              </a:spcBef>
              <a:defRPr sz="2200" b="1">
                <a:solidFill>
                  <a:srgbClr val="0F172A"/>
                </a:solidFill>
                <a:latin typeface="Calibri"/>
              </a:defRPr>
            </a:pPr>
            <a:r>
              <a:t>End-to-End Selection Funnel: From Apply to Offer</a:t>
            </a:r>
          </a:p>
          <a:p>
            <a:pPr>
              <a:spcBef>
                <a:spcPts val="200"/>
              </a:spcBef>
              <a:defRPr sz="1100">
                <a:solidFill>
                  <a:srgbClr val="64748B"/>
                </a:solidFill>
                <a:latin typeface="Calibri"/>
              </a:defRPr>
            </a:pPr>
            <a:r>
              <a:t>Progressive stage tracking with real-time candidate notifications.</a:t>
            </a:r>
          </a:p>
        </p:txBody>
      </p:sp>
      <p:sp>
        <p:nvSpPr>
          <p:cNvPr id="6" name="Rounded Rectangle 5"/>
          <p:cNvSpPr/>
          <p:nvPr/>
        </p:nvSpPr>
        <p:spPr>
          <a:xfrm>
            <a:off x="731520" y="1645920"/>
            <a:ext cx="1993392" cy="4480560"/>
          </a:xfrm>
          <a:prstGeom prst="roundRect">
            <a:avLst/>
          </a:prstGeom>
          <a:solidFill>
            <a:srgbClr val="FFFFFF"/>
          </a:solidFill>
          <a:ln w="19050">
            <a:solidFill>
              <a:srgbClr val="2F8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45920"/>
            <a:ext cx="1993392" cy="548640"/>
          </a:xfrm>
          <a:prstGeom prst="rect">
            <a:avLst/>
          </a:prstGeom>
          <a:solidFill>
            <a:srgbClr val="2F8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755648"/>
            <a:ext cx="1993392" cy="365760"/>
          </a:xfrm>
          <a:prstGeom prst="rect">
            <a:avLst/>
          </a:prstGeom>
          <a:noFill/>
        </p:spPr>
        <p:txBody>
          <a:bodyPr wrap="none">
            <a:spAutoFit/>
          </a:bodyPr>
          <a:lstStyle/>
          <a:p>
            <a:pPr algn="ctr">
              <a:defRPr sz="950" b="1">
                <a:solidFill>
                  <a:srgbClr val="FFFFFF"/>
                </a:solidFill>
                <a:latin typeface="Calibri"/>
              </a:defRPr>
            </a:pPr>
            <a:r>
              <a:t>STAGE 1: APPLIED</a:t>
            </a:r>
          </a:p>
        </p:txBody>
      </p:sp>
      <p:sp>
        <p:nvSpPr>
          <p:cNvPr id="9" name="TextBox 8"/>
          <p:cNvSpPr txBox="1"/>
          <p:nvPr/>
        </p:nvSpPr>
        <p:spPr>
          <a:xfrm>
            <a:off x="841248" y="2286000"/>
            <a:ext cx="1773936" cy="3657600"/>
          </a:xfrm>
          <a:prstGeom prst="rect">
            <a:avLst/>
          </a:prstGeom>
          <a:noFill/>
        </p:spPr>
        <p:txBody>
          <a:bodyPr wrap="square">
            <a:spAutoFit/>
          </a:bodyPr>
          <a:lstStyle/>
          <a:p>
            <a:pPr>
              <a:defRPr sz="1400" b="1">
                <a:solidFill>
                  <a:srgbClr val="2F8F78"/>
                </a:solidFill>
                <a:latin typeface="Calibri"/>
              </a:defRPr>
            </a:pPr>
            <a:r>
              <a:t>100% Candidates</a:t>
            </a:r>
          </a:p>
          <a:p>
            <a:pPr>
              <a:spcBef>
                <a:spcPts val="800"/>
              </a:spcBef>
              <a:defRPr sz="950">
                <a:solidFill>
                  <a:srgbClr val="64748B"/>
                </a:solidFill>
                <a:latin typeface="Calibri"/>
              </a:defRPr>
            </a:pPr>
            <a:r>
              <a:t>Student verifies eligibility and applies with 1 click. Resume linked automatically.</a:t>
            </a:r>
          </a:p>
          <a:p>
            <a:pPr>
              <a:spcBef>
                <a:spcPts val="1400"/>
              </a:spcBef>
              <a:defRPr sz="900" b="1">
                <a:solidFill>
                  <a:srgbClr val="0F172A"/>
                </a:solidFill>
                <a:latin typeface="Calibri"/>
              </a:defRPr>
            </a:pPr>
            <a:r>
              <a:t>Key System Action:</a:t>
            </a:r>
          </a:p>
          <a:p>
            <a:pPr>
              <a:spcBef>
                <a:spcPts val="200"/>
              </a:spcBef>
              <a:defRPr sz="850">
                <a:solidFill>
                  <a:srgbClr val="64748B"/>
                </a:solidFill>
                <a:latin typeface="Calibri"/>
              </a:defRPr>
            </a:pPr>
            <a:r>
              <a:t>Automated Status Transition &amp; Audit Trail</a:t>
            </a:r>
          </a:p>
        </p:txBody>
      </p:sp>
      <p:sp>
        <p:nvSpPr>
          <p:cNvPr id="10" name="Rounded Rectangle 9"/>
          <p:cNvSpPr/>
          <p:nvPr/>
        </p:nvSpPr>
        <p:spPr>
          <a:xfrm>
            <a:off x="2907792" y="1645920"/>
            <a:ext cx="1993392" cy="4480560"/>
          </a:xfrm>
          <a:prstGeom prst="roundRect">
            <a:avLst/>
          </a:prstGeom>
          <a:solidFill>
            <a:srgbClr val="FFFFFF"/>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907792" y="1645920"/>
            <a:ext cx="1993392" cy="54864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07792" y="1755648"/>
            <a:ext cx="1993392" cy="365760"/>
          </a:xfrm>
          <a:prstGeom prst="rect">
            <a:avLst/>
          </a:prstGeom>
          <a:noFill/>
        </p:spPr>
        <p:txBody>
          <a:bodyPr wrap="none">
            <a:spAutoFit/>
          </a:bodyPr>
          <a:lstStyle/>
          <a:p>
            <a:pPr algn="ctr">
              <a:defRPr sz="950" b="1">
                <a:solidFill>
                  <a:srgbClr val="FFFFFF"/>
                </a:solidFill>
                <a:latin typeface="Calibri"/>
              </a:defRPr>
            </a:pPr>
            <a:r>
              <a:t>STAGE 2: ASSESSMENT</a:t>
            </a:r>
          </a:p>
        </p:txBody>
      </p:sp>
      <p:sp>
        <p:nvSpPr>
          <p:cNvPr id="13" name="TextBox 12"/>
          <p:cNvSpPr txBox="1"/>
          <p:nvPr/>
        </p:nvSpPr>
        <p:spPr>
          <a:xfrm>
            <a:off x="3017520" y="2286000"/>
            <a:ext cx="1773936" cy="3657600"/>
          </a:xfrm>
          <a:prstGeom prst="rect">
            <a:avLst/>
          </a:prstGeom>
          <a:noFill/>
        </p:spPr>
        <p:txBody>
          <a:bodyPr wrap="square">
            <a:spAutoFit/>
          </a:bodyPr>
          <a:lstStyle/>
          <a:p>
            <a:pPr>
              <a:defRPr sz="1400" b="1">
                <a:solidFill>
                  <a:srgbClr val="6366F1"/>
                </a:solidFill>
                <a:latin typeface="Calibri"/>
              </a:defRPr>
            </a:pPr>
            <a:r>
              <a:t>60% Shortlisted</a:t>
            </a:r>
          </a:p>
          <a:p>
            <a:pPr>
              <a:spcBef>
                <a:spcPts val="800"/>
              </a:spcBef>
              <a:defRPr sz="950">
                <a:solidFill>
                  <a:srgbClr val="64748B"/>
                </a:solidFill>
                <a:latin typeface="Calibri"/>
              </a:defRPr>
            </a:pPr>
            <a:r>
              <a:t>Online coding test / Aptitude round conducted. Scores entered by Recruiter.</a:t>
            </a:r>
          </a:p>
          <a:p>
            <a:pPr>
              <a:spcBef>
                <a:spcPts val="1400"/>
              </a:spcBef>
              <a:defRPr sz="900" b="1">
                <a:solidFill>
                  <a:srgbClr val="0F172A"/>
                </a:solidFill>
                <a:latin typeface="Calibri"/>
              </a:defRPr>
            </a:pPr>
            <a:r>
              <a:t>Key System Action:</a:t>
            </a:r>
          </a:p>
          <a:p>
            <a:pPr>
              <a:spcBef>
                <a:spcPts val="200"/>
              </a:spcBef>
              <a:defRPr sz="850">
                <a:solidFill>
                  <a:srgbClr val="64748B"/>
                </a:solidFill>
                <a:latin typeface="Calibri"/>
              </a:defRPr>
            </a:pPr>
            <a:r>
              <a:t>Automated Status Transition &amp; Audit Trail</a:t>
            </a:r>
          </a:p>
        </p:txBody>
      </p:sp>
      <p:sp>
        <p:nvSpPr>
          <p:cNvPr id="14" name="Rounded Rectangle 13"/>
          <p:cNvSpPr/>
          <p:nvPr/>
        </p:nvSpPr>
        <p:spPr>
          <a:xfrm>
            <a:off x="5084064" y="1645920"/>
            <a:ext cx="1993392" cy="448056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84064" y="1645920"/>
            <a:ext cx="1993392" cy="5486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84064" y="1755648"/>
            <a:ext cx="1993392" cy="365760"/>
          </a:xfrm>
          <a:prstGeom prst="rect">
            <a:avLst/>
          </a:prstGeom>
          <a:noFill/>
        </p:spPr>
        <p:txBody>
          <a:bodyPr wrap="none">
            <a:spAutoFit/>
          </a:bodyPr>
          <a:lstStyle/>
          <a:p>
            <a:pPr algn="ctr">
              <a:defRPr sz="950" b="1">
                <a:solidFill>
                  <a:srgbClr val="FFFFFF"/>
                </a:solidFill>
                <a:latin typeface="Calibri"/>
              </a:defRPr>
            </a:pPr>
            <a:r>
              <a:t>STAGE 3: TECHNICAL</a:t>
            </a:r>
          </a:p>
        </p:txBody>
      </p:sp>
      <p:sp>
        <p:nvSpPr>
          <p:cNvPr id="17" name="TextBox 16"/>
          <p:cNvSpPr txBox="1"/>
          <p:nvPr/>
        </p:nvSpPr>
        <p:spPr>
          <a:xfrm>
            <a:off x="5193792" y="2286000"/>
            <a:ext cx="1773936" cy="3657600"/>
          </a:xfrm>
          <a:prstGeom prst="rect">
            <a:avLst/>
          </a:prstGeom>
          <a:noFill/>
        </p:spPr>
        <p:txBody>
          <a:bodyPr wrap="square">
            <a:spAutoFit/>
          </a:bodyPr>
          <a:lstStyle/>
          <a:p>
            <a:pPr>
              <a:defRPr sz="1400" b="1">
                <a:solidFill>
                  <a:srgbClr val="2563EB"/>
                </a:solidFill>
                <a:latin typeface="Calibri"/>
              </a:defRPr>
            </a:pPr>
            <a:r>
              <a:t>30% Advanced</a:t>
            </a:r>
          </a:p>
          <a:p>
            <a:pPr>
              <a:spcBef>
                <a:spcPts val="800"/>
              </a:spcBef>
              <a:defRPr sz="950">
                <a:solidFill>
                  <a:srgbClr val="64748B"/>
                </a:solidFill>
                <a:latin typeface="Calibri"/>
              </a:defRPr>
            </a:pPr>
            <a:r>
              <a:t>Deep-dive system design &amp; coding interview. Multi-evaluator feedback recorded.</a:t>
            </a:r>
          </a:p>
          <a:p>
            <a:pPr>
              <a:spcBef>
                <a:spcPts val="1400"/>
              </a:spcBef>
              <a:defRPr sz="900" b="1">
                <a:solidFill>
                  <a:srgbClr val="0F172A"/>
                </a:solidFill>
                <a:latin typeface="Calibri"/>
              </a:defRPr>
            </a:pPr>
            <a:r>
              <a:t>Key System Action:</a:t>
            </a:r>
          </a:p>
          <a:p>
            <a:pPr>
              <a:spcBef>
                <a:spcPts val="200"/>
              </a:spcBef>
              <a:defRPr sz="850">
                <a:solidFill>
                  <a:srgbClr val="64748B"/>
                </a:solidFill>
                <a:latin typeface="Calibri"/>
              </a:defRPr>
            </a:pPr>
            <a:r>
              <a:t>Automated Status Transition &amp; Audit Trail</a:t>
            </a:r>
          </a:p>
        </p:txBody>
      </p:sp>
      <p:sp>
        <p:nvSpPr>
          <p:cNvPr id="18" name="Rounded Rectangle 17"/>
          <p:cNvSpPr/>
          <p:nvPr/>
        </p:nvSpPr>
        <p:spPr>
          <a:xfrm>
            <a:off x="7260336" y="1645920"/>
            <a:ext cx="1993392" cy="4480560"/>
          </a:xfrm>
          <a:prstGeom prst="roundRect">
            <a:avLst/>
          </a:prstGeom>
          <a:solidFill>
            <a:srgbClr val="FFFF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260336" y="1645920"/>
            <a:ext cx="1993392" cy="5486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60336" y="1755648"/>
            <a:ext cx="1993392" cy="365760"/>
          </a:xfrm>
          <a:prstGeom prst="rect">
            <a:avLst/>
          </a:prstGeom>
          <a:noFill/>
        </p:spPr>
        <p:txBody>
          <a:bodyPr wrap="none">
            <a:spAutoFit/>
          </a:bodyPr>
          <a:lstStyle/>
          <a:p>
            <a:pPr algn="ctr">
              <a:defRPr sz="950" b="1">
                <a:solidFill>
                  <a:srgbClr val="FFFFFF"/>
                </a:solidFill>
                <a:latin typeface="Calibri"/>
              </a:defRPr>
            </a:pPr>
            <a:r>
              <a:t>STAGE 4: HR ROUND</a:t>
            </a:r>
          </a:p>
        </p:txBody>
      </p:sp>
      <p:sp>
        <p:nvSpPr>
          <p:cNvPr id="21" name="TextBox 20"/>
          <p:cNvSpPr txBox="1"/>
          <p:nvPr/>
        </p:nvSpPr>
        <p:spPr>
          <a:xfrm>
            <a:off x="7370064" y="2286000"/>
            <a:ext cx="1773936" cy="3657600"/>
          </a:xfrm>
          <a:prstGeom prst="rect">
            <a:avLst/>
          </a:prstGeom>
          <a:noFill/>
        </p:spPr>
        <p:txBody>
          <a:bodyPr wrap="square">
            <a:spAutoFit/>
          </a:bodyPr>
          <a:lstStyle/>
          <a:p>
            <a:pPr>
              <a:defRPr sz="1400" b="1">
                <a:solidFill>
                  <a:srgbClr val="F59E0B"/>
                </a:solidFill>
                <a:latin typeface="Calibri"/>
              </a:defRPr>
            </a:pPr>
            <a:r>
              <a:t>15% Finalists</a:t>
            </a:r>
          </a:p>
          <a:p>
            <a:pPr>
              <a:spcBef>
                <a:spcPts val="800"/>
              </a:spcBef>
              <a:defRPr sz="950">
                <a:solidFill>
                  <a:srgbClr val="64748B"/>
                </a:solidFill>
                <a:latin typeface="Calibri"/>
              </a:defRPr>
            </a:pPr>
            <a:r>
              <a:t>Culture fit, communication, and managerial round. Slot scheduling coordinated.</a:t>
            </a:r>
          </a:p>
          <a:p>
            <a:pPr>
              <a:spcBef>
                <a:spcPts val="1400"/>
              </a:spcBef>
              <a:defRPr sz="900" b="1">
                <a:solidFill>
                  <a:srgbClr val="0F172A"/>
                </a:solidFill>
                <a:latin typeface="Calibri"/>
              </a:defRPr>
            </a:pPr>
            <a:r>
              <a:t>Key System Action:</a:t>
            </a:r>
          </a:p>
          <a:p>
            <a:pPr>
              <a:spcBef>
                <a:spcPts val="200"/>
              </a:spcBef>
              <a:defRPr sz="850">
                <a:solidFill>
                  <a:srgbClr val="64748B"/>
                </a:solidFill>
                <a:latin typeface="Calibri"/>
              </a:defRPr>
            </a:pPr>
            <a:r>
              <a:t>Automated Status Transition &amp; Audit Trail</a:t>
            </a:r>
          </a:p>
        </p:txBody>
      </p:sp>
      <p:sp>
        <p:nvSpPr>
          <p:cNvPr id="22" name="Rounded Rectangle 21"/>
          <p:cNvSpPr/>
          <p:nvPr/>
        </p:nvSpPr>
        <p:spPr>
          <a:xfrm>
            <a:off x="9436608" y="1645920"/>
            <a:ext cx="1993392" cy="448056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436608" y="1645920"/>
            <a:ext cx="1993392" cy="5486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436608" y="1755648"/>
            <a:ext cx="1993392" cy="365760"/>
          </a:xfrm>
          <a:prstGeom prst="rect">
            <a:avLst/>
          </a:prstGeom>
          <a:noFill/>
        </p:spPr>
        <p:txBody>
          <a:bodyPr wrap="none">
            <a:spAutoFit/>
          </a:bodyPr>
          <a:lstStyle/>
          <a:p>
            <a:pPr algn="ctr">
              <a:defRPr sz="950" b="1">
                <a:solidFill>
                  <a:srgbClr val="FFFFFF"/>
                </a:solidFill>
                <a:latin typeface="Calibri"/>
              </a:defRPr>
            </a:pPr>
            <a:r>
              <a:t>STAGE 5: OFFERED</a:t>
            </a:r>
          </a:p>
        </p:txBody>
      </p:sp>
      <p:sp>
        <p:nvSpPr>
          <p:cNvPr id="25" name="TextBox 24"/>
          <p:cNvSpPr txBox="1"/>
          <p:nvPr/>
        </p:nvSpPr>
        <p:spPr>
          <a:xfrm>
            <a:off x="9546336" y="2286000"/>
            <a:ext cx="1773936" cy="3657600"/>
          </a:xfrm>
          <a:prstGeom prst="rect">
            <a:avLst/>
          </a:prstGeom>
          <a:noFill/>
        </p:spPr>
        <p:txBody>
          <a:bodyPr wrap="square">
            <a:spAutoFit/>
          </a:bodyPr>
          <a:lstStyle/>
          <a:p>
            <a:pPr>
              <a:defRPr sz="1400" b="1">
                <a:solidFill>
                  <a:srgbClr val="10B981"/>
                </a:solidFill>
                <a:latin typeface="Calibri"/>
              </a:defRPr>
            </a:pPr>
            <a:r>
              <a:t>10% Hired</a:t>
            </a:r>
          </a:p>
          <a:p>
            <a:pPr>
              <a:spcBef>
                <a:spcPts val="800"/>
              </a:spcBef>
              <a:defRPr sz="950">
                <a:solidFill>
                  <a:srgbClr val="64748B"/>
                </a:solidFill>
                <a:latin typeface="Calibri"/>
              </a:defRPr>
            </a:pPr>
            <a:r>
              <a:t>Official digital offer letter released with CTC package. Instant placement update.</a:t>
            </a:r>
          </a:p>
          <a:p>
            <a:pPr>
              <a:spcBef>
                <a:spcPts val="1400"/>
              </a:spcBef>
              <a:defRPr sz="900" b="1">
                <a:solidFill>
                  <a:srgbClr val="0F172A"/>
                </a:solidFill>
                <a:latin typeface="Calibri"/>
              </a:defRPr>
            </a:pPr>
            <a:r>
              <a:t>Key System Action:</a:t>
            </a:r>
          </a:p>
          <a:p>
            <a:pPr>
              <a:spcBef>
                <a:spcPts val="200"/>
              </a:spcBef>
              <a:defRPr sz="850">
                <a:solidFill>
                  <a:srgbClr val="64748B"/>
                </a:solidFill>
                <a:latin typeface="Calibri"/>
              </a:defRPr>
            </a:pPr>
            <a:r>
              <a:t>Automated Status Transition &amp; Audit Trail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F8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46520"/>
            <a:ext cx="10728655" cy="320040"/>
          </a:xfrm>
          <a:prstGeom prst="rect">
            <a:avLst/>
          </a:prstGeom>
          <a:noFill/>
        </p:spPr>
        <p:txBody>
          <a:bodyPr wrap="square">
            <a:spAutoFit/>
          </a:bodyPr>
          <a:lstStyle/>
          <a:p>
            <a:pPr algn="ctr">
              <a:defRPr sz="850">
                <a:solidFill>
                  <a:srgbClr val="64748B"/>
                </a:solidFill>
                <a:latin typeface="Calibri"/>
              </a:defRPr>
            </a:pPr>
            <a:r>
              <a:t>UdyamPath (उद्यमपथ) — Tier-1 Campus Placement Operating System  |  Rahul Sharma  |  Slide 10 of 20</a:t>
            </a:r>
          </a:p>
        </p:txBody>
      </p:sp>
      <p:sp>
        <p:nvSpPr>
          <p:cNvPr id="5" name="TextBox 4"/>
          <p:cNvSpPr txBox="1"/>
          <p:nvPr/>
        </p:nvSpPr>
        <p:spPr>
          <a:xfrm>
            <a:off x="731520" y="320040"/>
            <a:ext cx="10728655" cy="1097280"/>
          </a:xfrm>
          <a:prstGeom prst="rect">
            <a:avLst/>
          </a:prstGeom>
          <a:noFill/>
        </p:spPr>
        <p:txBody>
          <a:bodyPr wrap="square" lIns="0" tIns="0" rIns="0" bIns="0">
            <a:spAutoFit/>
          </a:bodyPr>
          <a:lstStyle/>
          <a:p>
            <a:pPr>
              <a:defRPr sz="950" b="1">
                <a:solidFill>
                  <a:srgbClr val="2F8F78"/>
                </a:solidFill>
                <a:latin typeface="Calibri"/>
              </a:defRPr>
            </a:pPr>
            <a:r>
              <a:t>LOGISTICS &amp; SCHEDULING</a:t>
            </a:r>
          </a:p>
          <a:p>
            <a:pPr>
              <a:spcBef>
                <a:spcPts val="200"/>
              </a:spcBef>
              <a:defRPr sz="2200" b="1">
                <a:solidFill>
                  <a:srgbClr val="0F172A"/>
                </a:solidFill>
                <a:latin typeface="Calibri"/>
              </a:defRPr>
            </a:pPr>
            <a:r>
              <a:t>Interview Coordination: Virtual &amp; Campus Hybrid Modes</a:t>
            </a:r>
          </a:p>
          <a:p>
            <a:pPr>
              <a:spcBef>
                <a:spcPts val="200"/>
              </a:spcBef>
              <a:defRPr sz="1100">
                <a:solidFill>
                  <a:srgbClr val="64748B"/>
                </a:solidFill>
                <a:latin typeface="Calibri"/>
              </a:defRPr>
            </a:pPr>
            <a:r>
              <a:t>Eliminating missed interview slots through real-time roster and meeting management.</a:t>
            </a:r>
          </a:p>
        </p:txBody>
      </p:sp>
      <p:sp>
        <p:nvSpPr>
          <p:cNvPr id="6" name="Rounded Rectangle 5"/>
          <p:cNvSpPr/>
          <p:nvPr/>
        </p:nvSpPr>
        <p:spPr>
          <a:xfrm>
            <a:off x="731520" y="1645920"/>
            <a:ext cx="5242255" cy="4480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45920"/>
            <a:ext cx="5242255" cy="73152"/>
          </a:xfrm>
          <a:prstGeom prst="rect">
            <a:avLst/>
          </a:prstGeom>
          <a:solidFill>
            <a:srgbClr val="2F8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10512"/>
            <a:ext cx="4876495" cy="4206240"/>
          </a:xfrm>
          <a:prstGeom prst="rect">
            <a:avLst/>
          </a:prstGeom>
          <a:noFill/>
        </p:spPr>
        <p:txBody>
          <a:bodyPr wrap="square" lIns="0" tIns="0">
            <a:spAutoFit/>
          </a:bodyPr>
          <a:lstStyle/>
          <a:p>
            <a:pPr>
              <a:defRPr sz="850" b="1">
                <a:solidFill>
                  <a:srgbClr val="2F8F78"/>
                </a:solidFill>
                <a:latin typeface="Calibri"/>
              </a:defRPr>
            </a:pPr>
            <a:r>
              <a:t>MODE 1: VIRTUAL INTERVIEW ORCHESTRATION</a:t>
            </a:r>
          </a:p>
          <a:p>
            <a:pPr>
              <a:spcBef>
                <a:spcPts val="300"/>
              </a:spcBef>
              <a:defRPr sz="1350" b="1">
                <a:solidFill>
                  <a:srgbClr val="0F172A"/>
                </a:solidFill>
                <a:latin typeface="Calibri"/>
              </a:defRPr>
            </a:pPr>
            <a:r>
              <a:t>Remote Cloud Interviews (Google Meet / Zoom)</a:t>
            </a:r>
          </a:p>
          <a:p>
            <a:pPr>
              <a:spcBef>
                <a:spcPts val="500"/>
              </a:spcBef>
              <a:defRPr sz="950">
                <a:solidFill>
                  <a:srgbClr val="0F172A"/>
                </a:solidFill>
                <a:latin typeface="Calibri"/>
              </a:defRPr>
            </a:pPr>
            <a:r>
              <a:t>▪  Seamless integration of secure Google Meet / Zoom conference URLs.</a:t>
            </a:r>
          </a:p>
          <a:p>
            <a:pPr>
              <a:spcBef>
                <a:spcPts val="500"/>
              </a:spcBef>
              <a:defRPr sz="950">
                <a:solidFill>
                  <a:srgbClr val="0F172A"/>
                </a:solidFill>
                <a:latin typeface="Calibri"/>
              </a:defRPr>
            </a:pPr>
            <a:r>
              <a:t>▪  Automated slot time distribution preventing overlapping candidate interviews.</a:t>
            </a:r>
          </a:p>
          <a:p>
            <a:pPr>
              <a:spcBef>
                <a:spcPts val="500"/>
              </a:spcBef>
              <a:defRPr sz="950">
                <a:solidFill>
                  <a:srgbClr val="0F172A"/>
                </a:solidFill>
                <a:latin typeface="Calibri"/>
              </a:defRPr>
            </a:pPr>
            <a:r>
              <a:t>▪  Candidate access to 1-click meeting join link directly on their dashboard.</a:t>
            </a:r>
          </a:p>
          <a:p>
            <a:pPr>
              <a:spcBef>
                <a:spcPts val="500"/>
              </a:spcBef>
              <a:defRPr sz="950">
                <a:solidFill>
                  <a:srgbClr val="0F172A"/>
                </a:solidFill>
                <a:latin typeface="Calibri"/>
              </a:defRPr>
            </a:pPr>
            <a:r>
              <a:t>▪  Real-time recruiter scoring interface with feedback notes saved to MongoDB.</a:t>
            </a:r>
          </a:p>
          <a:p>
            <a:pPr>
              <a:spcBef>
                <a:spcPts val="500"/>
              </a:spcBef>
              <a:defRPr sz="950">
                <a:solidFill>
                  <a:srgbClr val="0F172A"/>
                </a:solidFill>
                <a:latin typeface="Calibri"/>
              </a:defRPr>
            </a:pPr>
            <a:r>
              <a:t>▪  Instant notification broadcast to candidate upon interview schedule release.</a:t>
            </a:r>
          </a:p>
        </p:txBody>
      </p:sp>
      <p:sp>
        <p:nvSpPr>
          <p:cNvPr id="9" name="Rounded Rectangle 8"/>
          <p:cNvSpPr/>
          <p:nvPr/>
        </p:nvSpPr>
        <p:spPr>
          <a:xfrm>
            <a:off x="6217920" y="1645920"/>
            <a:ext cx="5242255" cy="4480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1645920"/>
            <a:ext cx="5242255" cy="73152"/>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810512"/>
            <a:ext cx="4876495" cy="4206240"/>
          </a:xfrm>
          <a:prstGeom prst="rect">
            <a:avLst/>
          </a:prstGeom>
          <a:noFill/>
        </p:spPr>
        <p:txBody>
          <a:bodyPr wrap="square" lIns="0" tIns="0">
            <a:spAutoFit/>
          </a:bodyPr>
          <a:lstStyle/>
          <a:p>
            <a:pPr>
              <a:defRPr sz="850" b="1">
                <a:solidFill>
                  <a:srgbClr val="6366F1"/>
                </a:solidFill>
                <a:latin typeface="Calibri"/>
              </a:defRPr>
            </a:pPr>
            <a:r>
              <a:t>MODE 2: ON-CAMPUS PHYSICAL INTERVIEW COORDINATION</a:t>
            </a:r>
          </a:p>
          <a:p>
            <a:pPr>
              <a:spcBef>
                <a:spcPts val="300"/>
              </a:spcBef>
              <a:defRPr sz="1350" b="1">
                <a:solidFill>
                  <a:srgbClr val="0F172A"/>
                </a:solidFill>
                <a:latin typeface="Calibri"/>
              </a:defRPr>
            </a:pPr>
            <a:r>
              <a:t>In-Person Physical Drives (Campus Labs &amp; Rooms)</a:t>
            </a:r>
          </a:p>
          <a:p>
            <a:pPr>
              <a:spcBef>
                <a:spcPts val="500"/>
              </a:spcBef>
              <a:defRPr sz="950">
                <a:solidFill>
                  <a:srgbClr val="0F172A"/>
                </a:solidFill>
                <a:latin typeface="Calibri"/>
              </a:defRPr>
            </a:pPr>
            <a:r>
              <a:t>▪  Automated classroom / computer lab allocation with room capacity safeguards.</a:t>
            </a:r>
          </a:p>
          <a:p>
            <a:pPr>
              <a:spcBef>
                <a:spcPts val="500"/>
              </a:spcBef>
              <a:defRPr sz="950">
                <a:solidFill>
                  <a:srgbClr val="0F172A"/>
                </a:solidFill>
                <a:latin typeface="Calibri"/>
              </a:defRPr>
            </a:pPr>
            <a:r>
              <a:t>▪  Dynamic batching: Allocating 25 candidates per 45-minute technical interview slot.</a:t>
            </a:r>
          </a:p>
          <a:p>
            <a:pPr>
              <a:spcBef>
                <a:spcPts val="500"/>
              </a:spcBef>
              <a:defRPr sz="950">
                <a:solidFill>
                  <a:srgbClr val="0F172A"/>
                </a:solidFill>
                <a:latin typeface="Calibri"/>
              </a:defRPr>
            </a:pPr>
            <a:r>
              <a:t>▪  Live digital attendance roster managed by student placement coordinators.</a:t>
            </a:r>
          </a:p>
          <a:p>
            <a:pPr>
              <a:spcBef>
                <a:spcPts val="500"/>
              </a:spcBef>
              <a:defRPr sz="950">
                <a:solidFill>
                  <a:srgbClr val="0F172A"/>
                </a:solidFill>
                <a:latin typeface="Calibri"/>
              </a:defRPr>
            </a:pPr>
            <a:r>
              <a:t>▪  Physical room navigation directions and reporting time displayed on student UI.</a:t>
            </a:r>
          </a:p>
          <a:p>
            <a:pPr>
              <a:spcBef>
                <a:spcPts val="500"/>
              </a:spcBef>
              <a:defRPr sz="950">
                <a:solidFill>
                  <a:srgbClr val="0F172A"/>
                </a:solidFill>
                <a:latin typeface="Calibri"/>
              </a:defRPr>
            </a:pPr>
            <a:r>
              <a:t>▪  Instant attendance sync with TPO master console for rapid candidate tracking.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F8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46520"/>
            <a:ext cx="10728655" cy="320040"/>
          </a:xfrm>
          <a:prstGeom prst="rect">
            <a:avLst/>
          </a:prstGeom>
          <a:noFill/>
        </p:spPr>
        <p:txBody>
          <a:bodyPr wrap="square">
            <a:spAutoFit/>
          </a:bodyPr>
          <a:lstStyle/>
          <a:p>
            <a:pPr algn="ctr">
              <a:defRPr sz="850">
                <a:solidFill>
                  <a:srgbClr val="64748B"/>
                </a:solidFill>
                <a:latin typeface="Calibri"/>
              </a:defRPr>
            </a:pPr>
            <a:r>
              <a:t>UdyamPath (उद्यमपथ) — Tier-1 Campus Placement Operating System  |  Rahul Sharma  |  Slide 11 of 20</a:t>
            </a:r>
          </a:p>
        </p:txBody>
      </p:sp>
      <p:sp>
        <p:nvSpPr>
          <p:cNvPr id="5" name="TextBox 4"/>
          <p:cNvSpPr txBox="1"/>
          <p:nvPr/>
        </p:nvSpPr>
        <p:spPr>
          <a:xfrm>
            <a:off x="731520" y="320040"/>
            <a:ext cx="10728655" cy="1097280"/>
          </a:xfrm>
          <a:prstGeom prst="rect">
            <a:avLst/>
          </a:prstGeom>
          <a:noFill/>
        </p:spPr>
        <p:txBody>
          <a:bodyPr wrap="square" lIns="0" tIns="0" rIns="0" bIns="0">
            <a:spAutoFit/>
          </a:bodyPr>
          <a:lstStyle/>
          <a:p>
            <a:pPr>
              <a:defRPr sz="950" b="1">
                <a:solidFill>
                  <a:srgbClr val="2F8F78"/>
                </a:solidFill>
                <a:latin typeface="Calibri"/>
              </a:defRPr>
            </a:pPr>
            <a:r>
              <a:t>OFFER MANAGEMENT</a:t>
            </a:r>
          </a:p>
          <a:p>
            <a:pPr>
              <a:spcBef>
                <a:spcPts val="200"/>
              </a:spcBef>
              <a:defRPr sz="2200" b="1">
                <a:solidFill>
                  <a:srgbClr val="0F172A"/>
                </a:solidFill>
                <a:latin typeface="Calibri"/>
              </a:defRPr>
            </a:pPr>
            <a:r>
              <a:t>Digital Offer Issuance &amp; 1-Click Acceptance Workflow</a:t>
            </a:r>
          </a:p>
          <a:p>
            <a:pPr>
              <a:spcBef>
                <a:spcPts val="200"/>
              </a:spcBef>
              <a:defRPr sz="1100">
                <a:solidFill>
                  <a:srgbClr val="64748B"/>
                </a:solidFill>
                <a:latin typeface="Calibri"/>
              </a:defRPr>
            </a:pPr>
            <a:r>
              <a:t>Automating the transition from final interview selection to verified institutional placement.</a:t>
            </a:r>
          </a:p>
        </p:txBody>
      </p:sp>
      <p:sp>
        <p:nvSpPr>
          <p:cNvPr id="6" name="Rounded Rectangle 5"/>
          <p:cNvSpPr/>
          <p:nvPr/>
        </p:nvSpPr>
        <p:spPr>
          <a:xfrm>
            <a:off x="731520" y="1645920"/>
            <a:ext cx="3383280" cy="4480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45920"/>
            <a:ext cx="3383280"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10512"/>
            <a:ext cx="3017520" cy="4206240"/>
          </a:xfrm>
          <a:prstGeom prst="rect">
            <a:avLst/>
          </a:prstGeom>
          <a:noFill/>
        </p:spPr>
        <p:txBody>
          <a:bodyPr wrap="square" lIns="0" tIns="0">
            <a:spAutoFit/>
          </a:bodyPr>
          <a:lstStyle/>
          <a:p>
            <a:pPr>
              <a:defRPr sz="850" b="1">
                <a:solidFill>
                  <a:srgbClr val="F59E0B"/>
                </a:solidFill>
                <a:latin typeface="Calibri"/>
              </a:defRPr>
            </a:pPr>
            <a:r>
              <a:t>STEP 1: OFFER RELEASE</a:t>
            </a:r>
          </a:p>
          <a:p>
            <a:pPr>
              <a:spcBef>
                <a:spcPts val="300"/>
              </a:spcBef>
              <a:defRPr sz="1350" b="1">
                <a:solidFill>
                  <a:srgbClr val="0F172A"/>
                </a:solidFill>
                <a:latin typeface="Calibri"/>
              </a:defRPr>
            </a:pPr>
            <a:r>
              <a:t>Corporate Recruiter Action</a:t>
            </a:r>
          </a:p>
          <a:p>
            <a:pPr>
              <a:spcBef>
                <a:spcPts val="500"/>
              </a:spcBef>
              <a:defRPr sz="950">
                <a:solidFill>
                  <a:srgbClr val="0F172A"/>
                </a:solidFill>
                <a:latin typeface="Calibri"/>
              </a:defRPr>
            </a:pPr>
            <a:r>
              <a:t>▪  Recruiter inputs final compensation details (CTC Package, Base Salary, Joining Date).</a:t>
            </a:r>
          </a:p>
          <a:p>
            <a:pPr>
              <a:spcBef>
                <a:spcPts val="500"/>
              </a:spcBef>
              <a:defRPr sz="950">
                <a:solidFill>
                  <a:srgbClr val="0F172A"/>
                </a:solidFill>
                <a:latin typeface="Calibri"/>
              </a:defRPr>
            </a:pPr>
            <a:r>
              <a:t>▪  Uploads official company offer letter PDF / document.</a:t>
            </a:r>
          </a:p>
          <a:p>
            <a:pPr>
              <a:spcBef>
                <a:spcPts val="500"/>
              </a:spcBef>
              <a:defRPr sz="950">
                <a:solidFill>
                  <a:srgbClr val="0F172A"/>
                </a:solidFill>
                <a:latin typeface="Calibri"/>
              </a:defRPr>
            </a:pPr>
            <a:r>
              <a:t>▪  Submits offer: Application status automatically transitions to 'Offered'.</a:t>
            </a:r>
          </a:p>
          <a:p>
            <a:pPr>
              <a:spcBef>
                <a:spcPts val="500"/>
              </a:spcBef>
              <a:defRPr sz="950">
                <a:solidFill>
                  <a:srgbClr val="0F172A"/>
                </a:solidFill>
                <a:latin typeface="Calibri"/>
              </a:defRPr>
            </a:pPr>
            <a:r>
              <a:t>▪  Candidate instantly receives alert and action card on their portal.</a:t>
            </a:r>
          </a:p>
        </p:txBody>
      </p:sp>
      <p:sp>
        <p:nvSpPr>
          <p:cNvPr id="9" name="Rounded Rectangle 8"/>
          <p:cNvSpPr/>
          <p:nvPr/>
        </p:nvSpPr>
        <p:spPr>
          <a:xfrm>
            <a:off x="4389120" y="1645920"/>
            <a:ext cx="3383280" cy="4480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89120" y="1645920"/>
            <a:ext cx="3383280" cy="73152"/>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1810512"/>
            <a:ext cx="3017520" cy="4206240"/>
          </a:xfrm>
          <a:prstGeom prst="rect">
            <a:avLst/>
          </a:prstGeom>
          <a:noFill/>
        </p:spPr>
        <p:txBody>
          <a:bodyPr wrap="square" lIns="0" tIns="0">
            <a:spAutoFit/>
          </a:bodyPr>
          <a:lstStyle/>
          <a:p>
            <a:pPr>
              <a:defRPr sz="850" b="1">
                <a:solidFill>
                  <a:srgbClr val="6366F1"/>
                </a:solidFill>
                <a:latin typeface="Calibri"/>
              </a:defRPr>
            </a:pPr>
            <a:r>
              <a:t>STEP 2: CANDIDATE REVIEW</a:t>
            </a:r>
          </a:p>
          <a:p>
            <a:pPr>
              <a:spcBef>
                <a:spcPts val="300"/>
              </a:spcBef>
              <a:defRPr sz="1350" b="1">
                <a:solidFill>
                  <a:srgbClr val="0F172A"/>
                </a:solidFill>
                <a:latin typeface="Calibri"/>
              </a:defRPr>
            </a:pPr>
            <a:r>
              <a:t>Student Decision Window</a:t>
            </a:r>
          </a:p>
          <a:p>
            <a:pPr>
              <a:spcBef>
                <a:spcPts val="500"/>
              </a:spcBef>
              <a:defRPr sz="950">
                <a:solidFill>
                  <a:srgbClr val="0F172A"/>
                </a:solidFill>
                <a:latin typeface="Calibri"/>
              </a:defRPr>
            </a:pPr>
            <a:r>
              <a:t>▪  Candidate reviews compensation breakdown, role title, and reporting requirements.</a:t>
            </a:r>
          </a:p>
          <a:p>
            <a:pPr>
              <a:spcBef>
                <a:spcPts val="500"/>
              </a:spcBef>
              <a:defRPr sz="950">
                <a:solidFill>
                  <a:srgbClr val="0F172A"/>
                </a:solidFill>
                <a:latin typeface="Calibri"/>
              </a:defRPr>
            </a:pPr>
            <a:r>
              <a:t>▪  Evaluates multiple offers within institutional placement policy constraints.</a:t>
            </a:r>
          </a:p>
          <a:p>
            <a:pPr>
              <a:spcBef>
                <a:spcPts val="500"/>
              </a:spcBef>
              <a:defRPr sz="950">
                <a:solidFill>
                  <a:srgbClr val="0F172A"/>
                </a:solidFill>
                <a:latin typeface="Calibri"/>
              </a:defRPr>
            </a:pPr>
            <a:r>
              <a:t>▪  Ensures complete transparency with zero manual phone-call negotiations.</a:t>
            </a:r>
          </a:p>
          <a:p>
            <a:pPr>
              <a:spcBef>
                <a:spcPts val="500"/>
              </a:spcBef>
              <a:defRPr sz="950">
                <a:solidFill>
                  <a:srgbClr val="0F172A"/>
                </a:solidFill>
                <a:latin typeface="Calibri"/>
              </a:defRPr>
            </a:pPr>
            <a:r>
              <a:t>▪  Student clicks 'Accept Offer' with cryptographic timestamp recording.</a:t>
            </a:r>
          </a:p>
        </p:txBody>
      </p:sp>
      <p:sp>
        <p:nvSpPr>
          <p:cNvPr id="12" name="Rounded Rectangle 11"/>
          <p:cNvSpPr/>
          <p:nvPr/>
        </p:nvSpPr>
        <p:spPr>
          <a:xfrm>
            <a:off x="8046720" y="1645920"/>
            <a:ext cx="3383280" cy="4480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46720" y="1645920"/>
            <a:ext cx="3383280"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0" y="1810512"/>
            <a:ext cx="3017520" cy="4206240"/>
          </a:xfrm>
          <a:prstGeom prst="rect">
            <a:avLst/>
          </a:prstGeom>
          <a:noFill/>
        </p:spPr>
        <p:txBody>
          <a:bodyPr wrap="square" lIns="0" tIns="0">
            <a:spAutoFit/>
          </a:bodyPr>
          <a:lstStyle/>
          <a:p>
            <a:pPr>
              <a:defRPr sz="850" b="1">
                <a:solidFill>
                  <a:srgbClr val="10B981"/>
                </a:solidFill>
                <a:latin typeface="Calibri"/>
              </a:defRPr>
            </a:pPr>
            <a:r>
              <a:t>STEP 3: AUTO-PLACEMENT SYNC</a:t>
            </a:r>
          </a:p>
          <a:p>
            <a:pPr>
              <a:spcBef>
                <a:spcPts val="300"/>
              </a:spcBef>
              <a:defRPr sz="1350" b="1">
                <a:solidFill>
                  <a:srgbClr val="0F172A"/>
                </a:solidFill>
                <a:latin typeface="Calibri"/>
              </a:defRPr>
            </a:pPr>
            <a:r>
              <a:t>Institutional Core Update</a:t>
            </a:r>
          </a:p>
          <a:p>
            <a:pPr>
              <a:spcBef>
                <a:spcPts val="500"/>
              </a:spcBef>
              <a:defRPr sz="950">
                <a:solidFill>
                  <a:srgbClr val="0F172A"/>
                </a:solidFill>
                <a:latin typeface="Calibri"/>
              </a:defRPr>
            </a:pPr>
            <a:r>
              <a:t>▪  System immediately marks student record as 'Placed' across all databases.</a:t>
            </a:r>
          </a:p>
          <a:p>
            <a:pPr>
              <a:spcBef>
                <a:spcPts val="500"/>
              </a:spcBef>
              <a:defRPr sz="950">
                <a:solidFill>
                  <a:srgbClr val="0F172A"/>
                </a:solidFill>
                <a:latin typeface="Calibri"/>
              </a:defRPr>
            </a:pPr>
            <a:r>
              <a:t>▪  Recruiter and TPO dashboards reflect verified placement in real-time.</a:t>
            </a:r>
          </a:p>
          <a:p>
            <a:pPr>
              <a:spcBef>
                <a:spcPts val="500"/>
              </a:spcBef>
              <a:defRPr sz="950">
                <a:solidFill>
                  <a:srgbClr val="0F172A"/>
                </a:solidFill>
                <a:latin typeface="Calibri"/>
              </a:defRPr>
            </a:pPr>
            <a:r>
              <a:t>▪  Live recalculation of institutional placement percentage and average CTC.</a:t>
            </a:r>
          </a:p>
          <a:p>
            <a:pPr>
              <a:spcBef>
                <a:spcPts val="500"/>
              </a:spcBef>
              <a:defRPr sz="950">
                <a:solidFill>
                  <a:srgbClr val="0F172A"/>
                </a:solidFill>
                <a:latin typeface="Calibri"/>
              </a:defRPr>
            </a:pPr>
            <a:r>
              <a:t>▪  Record automatically indexed into NIRF Table 5.1 accreditation ledger.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F8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46520"/>
            <a:ext cx="10728655" cy="320040"/>
          </a:xfrm>
          <a:prstGeom prst="rect">
            <a:avLst/>
          </a:prstGeom>
          <a:noFill/>
        </p:spPr>
        <p:txBody>
          <a:bodyPr wrap="square">
            <a:spAutoFit/>
          </a:bodyPr>
          <a:lstStyle/>
          <a:p>
            <a:pPr algn="ctr">
              <a:defRPr sz="850">
                <a:solidFill>
                  <a:srgbClr val="64748B"/>
                </a:solidFill>
                <a:latin typeface="Calibri"/>
              </a:defRPr>
            </a:pPr>
            <a:r>
              <a:t>UdyamPath (उद्यमपथ) — Tier-1 Campus Placement Operating System  |  Rahul Sharma  |  Slide 12 of 20</a:t>
            </a:r>
          </a:p>
        </p:txBody>
      </p:sp>
      <p:sp>
        <p:nvSpPr>
          <p:cNvPr id="5" name="TextBox 4"/>
          <p:cNvSpPr txBox="1"/>
          <p:nvPr/>
        </p:nvSpPr>
        <p:spPr>
          <a:xfrm>
            <a:off x="731520" y="320040"/>
            <a:ext cx="10728655" cy="1097280"/>
          </a:xfrm>
          <a:prstGeom prst="rect">
            <a:avLst/>
          </a:prstGeom>
          <a:noFill/>
        </p:spPr>
        <p:txBody>
          <a:bodyPr wrap="square" lIns="0" tIns="0" rIns="0" bIns="0">
            <a:spAutoFit/>
          </a:bodyPr>
          <a:lstStyle/>
          <a:p>
            <a:pPr>
              <a:defRPr sz="950" b="1">
                <a:solidFill>
                  <a:srgbClr val="2F8F78"/>
                </a:solidFill>
                <a:latin typeface="Calibri"/>
              </a:defRPr>
            </a:pPr>
            <a:r>
              <a:t>ACCREDITATION READINESS</a:t>
            </a:r>
          </a:p>
          <a:p>
            <a:pPr>
              <a:spcBef>
                <a:spcPts val="200"/>
              </a:spcBef>
              <a:defRPr sz="2200" b="1">
                <a:solidFill>
                  <a:srgbClr val="0F172A"/>
                </a:solidFill>
                <a:latin typeface="Calibri"/>
              </a:defRPr>
            </a:pPr>
            <a:r>
              <a:t>Accreditation Compliance: NIRF Table 5.1 &amp; NAAC 5.2.1</a:t>
            </a:r>
          </a:p>
          <a:p>
            <a:pPr>
              <a:spcBef>
                <a:spcPts val="200"/>
              </a:spcBef>
              <a:defRPr sz="1100">
                <a:solidFill>
                  <a:srgbClr val="64748B"/>
                </a:solidFill>
                <a:latin typeface="Calibri"/>
              </a:defRPr>
            </a:pPr>
            <a:r>
              <a:t>Transforming weeks of audit preparation into 3-second automated reports.</a:t>
            </a:r>
          </a:p>
        </p:txBody>
      </p:sp>
      <p:sp>
        <p:nvSpPr>
          <p:cNvPr id="6" name="Rounded Rectangle 5"/>
          <p:cNvSpPr/>
          <p:nvPr/>
        </p:nvSpPr>
        <p:spPr>
          <a:xfrm>
            <a:off x="731520" y="1645920"/>
            <a:ext cx="5242255" cy="4480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45920"/>
            <a:ext cx="5242255" cy="73152"/>
          </a:xfrm>
          <a:prstGeom prst="rect">
            <a:avLst/>
          </a:prstGeom>
          <a:solidFill>
            <a:srgbClr val="2F8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10512"/>
            <a:ext cx="4876495" cy="4206240"/>
          </a:xfrm>
          <a:prstGeom prst="rect">
            <a:avLst/>
          </a:prstGeom>
          <a:noFill/>
        </p:spPr>
        <p:txBody>
          <a:bodyPr wrap="square" lIns="0" tIns="0">
            <a:spAutoFit/>
          </a:bodyPr>
          <a:lstStyle/>
          <a:p>
            <a:pPr>
              <a:defRPr sz="850" b="1">
                <a:solidFill>
                  <a:srgbClr val="2F8F78"/>
                </a:solidFill>
                <a:latin typeface="Calibri"/>
              </a:defRPr>
            </a:pPr>
            <a:r>
              <a:t>MHRD / NIRF RANKING FRAMEWORK</a:t>
            </a:r>
          </a:p>
          <a:p>
            <a:pPr>
              <a:spcBef>
                <a:spcPts val="300"/>
              </a:spcBef>
              <a:defRPr sz="1350" b="1">
                <a:solidFill>
                  <a:srgbClr val="0F172A"/>
                </a:solidFill>
                <a:latin typeface="Calibri"/>
              </a:defRPr>
            </a:pPr>
            <a:r>
              <a:t>NIRF Table 5.1: Higher Education Placement Automation</a:t>
            </a:r>
          </a:p>
          <a:p>
            <a:pPr>
              <a:spcBef>
                <a:spcPts val="500"/>
              </a:spcBef>
              <a:defRPr sz="950">
                <a:solidFill>
                  <a:srgbClr val="0F172A"/>
                </a:solidFill>
                <a:latin typeface="Calibri"/>
              </a:defRPr>
            </a:pPr>
            <a:r>
              <a:t>▪  Automated calculation of Total Graduating Students vs Total Placed Candidates.</a:t>
            </a:r>
          </a:p>
          <a:p>
            <a:pPr>
              <a:spcBef>
                <a:spcPts val="500"/>
              </a:spcBef>
              <a:defRPr sz="950">
                <a:solidFill>
                  <a:srgbClr val="0F172A"/>
                </a:solidFill>
                <a:latin typeface="Calibri"/>
              </a:defRPr>
            </a:pPr>
            <a:r>
              <a:t>▪  Mathematically verified Median Salary formula across all engineering branches:</a:t>
            </a:r>
          </a:p>
          <a:p>
            <a:pPr>
              <a:spcBef>
                <a:spcPts val="500"/>
              </a:spcBef>
              <a:defRPr sz="950">
                <a:solidFill>
                  <a:srgbClr val="0F172A"/>
                </a:solidFill>
                <a:latin typeface="Calibri"/>
              </a:defRPr>
            </a:pPr>
            <a:r>
              <a:t>▪    Median = Middle value of sorted CTC array (or average of two central values).</a:t>
            </a:r>
          </a:p>
          <a:p>
            <a:pPr>
              <a:spcBef>
                <a:spcPts val="500"/>
              </a:spcBef>
              <a:defRPr sz="950">
                <a:solidFill>
                  <a:srgbClr val="0F172A"/>
                </a:solidFill>
                <a:latin typeface="Calibri"/>
              </a:defRPr>
            </a:pPr>
            <a:r>
              <a:t>▪  Segregation of Higher Studies candidates vs On-Campus Corporate Placements.</a:t>
            </a:r>
          </a:p>
          <a:p>
            <a:pPr>
              <a:spcBef>
                <a:spcPts val="500"/>
              </a:spcBef>
              <a:defRPr sz="950">
                <a:solidFill>
                  <a:srgbClr val="0F172A"/>
                </a:solidFill>
                <a:latin typeface="Calibri"/>
              </a:defRPr>
            </a:pPr>
            <a:r>
              <a:t>▪  Instant 1-Click Excel / CSV export strictly formatted to NIRF data templates.</a:t>
            </a:r>
          </a:p>
        </p:txBody>
      </p:sp>
      <p:sp>
        <p:nvSpPr>
          <p:cNvPr id="9" name="Rounded Rectangle 8"/>
          <p:cNvSpPr/>
          <p:nvPr/>
        </p:nvSpPr>
        <p:spPr>
          <a:xfrm>
            <a:off x="6217920" y="1645920"/>
            <a:ext cx="5242255" cy="4480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1645920"/>
            <a:ext cx="5242255" cy="73152"/>
          </a:xfrm>
          <a:prstGeom prst="rect">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810512"/>
            <a:ext cx="4876495" cy="4206240"/>
          </a:xfrm>
          <a:prstGeom prst="rect">
            <a:avLst/>
          </a:prstGeom>
          <a:noFill/>
        </p:spPr>
        <p:txBody>
          <a:bodyPr wrap="square" lIns="0" tIns="0">
            <a:spAutoFit/>
          </a:bodyPr>
          <a:lstStyle/>
          <a:p>
            <a:pPr>
              <a:defRPr sz="850" b="1">
                <a:solidFill>
                  <a:srgbClr val="9333EA"/>
                </a:solidFill>
                <a:latin typeface="Calibri"/>
              </a:defRPr>
            </a:pPr>
            <a:r>
              <a:t>NAAC ACCREDITATION CRITERIA</a:t>
            </a:r>
          </a:p>
          <a:p>
            <a:pPr>
              <a:spcBef>
                <a:spcPts val="300"/>
              </a:spcBef>
              <a:defRPr sz="1350" b="1">
                <a:solidFill>
                  <a:srgbClr val="0F172A"/>
                </a:solidFill>
                <a:latin typeface="Calibri"/>
              </a:defRPr>
            </a:pPr>
            <a:r>
              <a:t>NAAC Criterion 5.2.1: Student Progression &amp; Placements</a:t>
            </a:r>
          </a:p>
          <a:p>
            <a:pPr>
              <a:spcBef>
                <a:spcPts val="500"/>
              </a:spcBef>
              <a:defRPr sz="950">
                <a:solidFill>
                  <a:srgbClr val="0F172A"/>
                </a:solidFill>
                <a:latin typeface="Calibri"/>
              </a:defRPr>
            </a:pPr>
            <a:r>
              <a:t>▪  Self-Study Report (SSR) audit-ready candidate roster with permanent roll numbers.</a:t>
            </a:r>
          </a:p>
          <a:p>
            <a:pPr>
              <a:spcBef>
                <a:spcPts val="500"/>
              </a:spcBef>
              <a:defRPr sz="950">
                <a:solidFill>
                  <a:srgbClr val="0F172A"/>
                </a:solidFill>
                <a:latin typeface="Calibri"/>
              </a:defRPr>
            </a:pPr>
            <a:r>
              <a:t>▪  Direct digital linkage of student names to verified Employer Offer Letters.</a:t>
            </a:r>
          </a:p>
          <a:p>
            <a:pPr>
              <a:spcBef>
                <a:spcPts val="500"/>
              </a:spcBef>
              <a:defRPr sz="950">
                <a:solidFill>
                  <a:srgbClr val="0F172A"/>
                </a:solidFill>
                <a:latin typeface="Calibri"/>
              </a:defRPr>
            </a:pPr>
            <a:r>
              <a:t>▪  Immutable audit logs providing indisputable proof for peer review team inspections.</a:t>
            </a:r>
          </a:p>
          <a:p>
            <a:pPr>
              <a:spcBef>
                <a:spcPts val="500"/>
              </a:spcBef>
              <a:defRPr sz="950">
                <a:solidFill>
                  <a:srgbClr val="0F172A"/>
                </a:solidFill>
                <a:latin typeface="Calibri"/>
              </a:defRPr>
            </a:pPr>
            <a:r>
              <a:t>▪  Department-wise breakdown: Computer Science, Information Tech, Electronics, Mechanical.</a:t>
            </a:r>
          </a:p>
          <a:p>
            <a:pPr>
              <a:spcBef>
                <a:spcPts val="500"/>
              </a:spcBef>
              <a:defRPr sz="950">
                <a:solidFill>
                  <a:srgbClr val="0F172A"/>
                </a:solidFill>
                <a:latin typeface="Calibri"/>
              </a:defRPr>
            </a:pPr>
            <a:r>
              <a:t>▪  Eliminates manual discrepancies and protects university institutional rating.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F8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46520"/>
            <a:ext cx="10728655" cy="320040"/>
          </a:xfrm>
          <a:prstGeom prst="rect">
            <a:avLst/>
          </a:prstGeom>
          <a:noFill/>
        </p:spPr>
        <p:txBody>
          <a:bodyPr wrap="square">
            <a:spAutoFit/>
          </a:bodyPr>
          <a:lstStyle/>
          <a:p>
            <a:pPr algn="ctr">
              <a:defRPr sz="850">
                <a:solidFill>
                  <a:srgbClr val="64748B"/>
                </a:solidFill>
                <a:latin typeface="Calibri"/>
              </a:defRPr>
            </a:pPr>
            <a:r>
              <a:t>UdyamPath (उद्यमपथ) — Tier-1 Campus Placement Operating System  |  Rahul Sharma  |  Slide 13 of 20</a:t>
            </a:r>
          </a:p>
        </p:txBody>
      </p:sp>
      <p:sp>
        <p:nvSpPr>
          <p:cNvPr id="5" name="TextBox 4"/>
          <p:cNvSpPr txBox="1"/>
          <p:nvPr/>
        </p:nvSpPr>
        <p:spPr>
          <a:xfrm>
            <a:off x="731520" y="320040"/>
            <a:ext cx="10728655" cy="1097280"/>
          </a:xfrm>
          <a:prstGeom prst="rect">
            <a:avLst/>
          </a:prstGeom>
          <a:noFill/>
        </p:spPr>
        <p:txBody>
          <a:bodyPr wrap="square" lIns="0" tIns="0" rIns="0" bIns="0">
            <a:spAutoFit/>
          </a:bodyPr>
          <a:lstStyle/>
          <a:p>
            <a:pPr>
              <a:defRPr sz="950" b="1">
                <a:solidFill>
                  <a:srgbClr val="2F8F78"/>
                </a:solidFill>
                <a:latin typeface="Calibri"/>
              </a:defRPr>
            </a:pPr>
            <a:r>
              <a:t>DATA MODELING</a:t>
            </a:r>
          </a:p>
          <a:p>
            <a:pPr>
              <a:spcBef>
                <a:spcPts val="200"/>
              </a:spcBef>
              <a:defRPr sz="2200" b="1">
                <a:solidFill>
                  <a:srgbClr val="0F172A"/>
                </a:solidFill>
                <a:latin typeface="Calibri"/>
              </a:defRPr>
            </a:pPr>
            <a:r>
              <a:t>Database Architecture: 9 Normalized Mongoose Collections</a:t>
            </a:r>
          </a:p>
          <a:p>
            <a:pPr>
              <a:spcBef>
                <a:spcPts val="200"/>
              </a:spcBef>
              <a:defRPr sz="1100">
                <a:solidFill>
                  <a:srgbClr val="64748B"/>
                </a:solidFill>
                <a:latin typeface="Calibri"/>
              </a:defRPr>
            </a:pPr>
            <a:r>
              <a:t>Relational modeling and compound indexing engineered for enterprise consistency.</a:t>
            </a:r>
          </a:p>
        </p:txBody>
      </p:sp>
      <p:sp>
        <p:nvSpPr>
          <p:cNvPr id="6" name="Rounded Rectangle 5"/>
          <p:cNvSpPr/>
          <p:nvPr/>
        </p:nvSpPr>
        <p:spPr>
          <a:xfrm>
            <a:off x="731520" y="1645920"/>
            <a:ext cx="3383280" cy="1188720"/>
          </a:xfrm>
          <a:prstGeom prst="roundRect">
            <a:avLst/>
          </a:prstGeom>
          <a:solidFill>
            <a:srgbClr val="FFFFFF"/>
          </a:solidFill>
          <a:ln w="1524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45920"/>
            <a:ext cx="73152" cy="1188720"/>
          </a:xfrm>
          <a:prstGeom prst="rect">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719072"/>
            <a:ext cx="3127248" cy="1042416"/>
          </a:xfrm>
          <a:prstGeom prst="rect">
            <a:avLst/>
          </a:prstGeom>
          <a:noFill/>
        </p:spPr>
        <p:txBody>
          <a:bodyPr wrap="square">
            <a:spAutoFit/>
          </a:bodyPr>
          <a:lstStyle/>
          <a:p>
            <a:pPr>
              <a:defRPr sz="1150" b="1">
                <a:solidFill>
                  <a:srgbClr val="0F172A"/>
                </a:solidFill>
                <a:latin typeface="Calibri"/>
              </a:defRPr>
            </a:pPr>
            <a:r>
              <a:t>Collection: Users</a:t>
            </a:r>
          </a:p>
          <a:p>
            <a:pPr>
              <a:spcBef>
                <a:spcPts val="200"/>
              </a:spcBef>
              <a:defRPr sz="900">
                <a:solidFill>
                  <a:srgbClr val="64748B"/>
                </a:solidFill>
                <a:latin typeface="Calibri"/>
              </a:defRPr>
            </a:pPr>
            <a:r>
              <a:t>Auth &amp; Roles (Admin, TPO, HOD, Recruiter, Student)</a:t>
            </a:r>
          </a:p>
        </p:txBody>
      </p:sp>
      <p:sp>
        <p:nvSpPr>
          <p:cNvPr id="9" name="Rounded Rectangle 8"/>
          <p:cNvSpPr/>
          <p:nvPr/>
        </p:nvSpPr>
        <p:spPr>
          <a:xfrm>
            <a:off x="4389120" y="1645920"/>
            <a:ext cx="3383280" cy="1188720"/>
          </a:xfrm>
          <a:prstGeom prst="roundRect">
            <a:avLst/>
          </a:prstGeom>
          <a:solidFill>
            <a:srgbClr val="FFFFFF"/>
          </a:solidFill>
          <a:ln w="15240">
            <a:solidFill>
              <a:srgbClr val="2F8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89120" y="1645920"/>
            <a:ext cx="73152" cy="1188720"/>
          </a:xfrm>
          <a:prstGeom prst="rect">
            <a:avLst/>
          </a:prstGeom>
          <a:solidFill>
            <a:srgbClr val="2F8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53712" y="1719072"/>
            <a:ext cx="3127248" cy="1042416"/>
          </a:xfrm>
          <a:prstGeom prst="rect">
            <a:avLst/>
          </a:prstGeom>
          <a:noFill/>
        </p:spPr>
        <p:txBody>
          <a:bodyPr wrap="square">
            <a:spAutoFit/>
          </a:bodyPr>
          <a:lstStyle/>
          <a:p>
            <a:pPr>
              <a:defRPr sz="1150" b="1">
                <a:solidFill>
                  <a:srgbClr val="0F172A"/>
                </a:solidFill>
                <a:latin typeface="Calibri"/>
              </a:defRPr>
            </a:pPr>
            <a:r>
              <a:t>Collection: Students</a:t>
            </a:r>
          </a:p>
          <a:p>
            <a:pPr>
              <a:spcBef>
                <a:spcPts val="200"/>
              </a:spcBef>
              <a:defRPr sz="900">
                <a:solidFill>
                  <a:srgbClr val="64748B"/>
                </a:solidFill>
                <a:latin typeface="Calibri"/>
              </a:defRPr>
            </a:pPr>
            <a:r>
              <a:t>Academic profile, CGPA, Backlogs, Branch, Resume URL</a:t>
            </a:r>
          </a:p>
        </p:txBody>
      </p:sp>
      <p:sp>
        <p:nvSpPr>
          <p:cNvPr id="12" name="Rounded Rectangle 11"/>
          <p:cNvSpPr/>
          <p:nvPr/>
        </p:nvSpPr>
        <p:spPr>
          <a:xfrm>
            <a:off x="8046720" y="1645920"/>
            <a:ext cx="3383280" cy="1188720"/>
          </a:xfrm>
          <a:prstGeom prst="roundRect">
            <a:avLst/>
          </a:prstGeom>
          <a:solidFill>
            <a:srgbClr val="FFFFFF"/>
          </a:solidFill>
          <a:ln w="1524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46720" y="1645920"/>
            <a:ext cx="73152" cy="118872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11312" y="1719072"/>
            <a:ext cx="3127248" cy="1042416"/>
          </a:xfrm>
          <a:prstGeom prst="rect">
            <a:avLst/>
          </a:prstGeom>
          <a:noFill/>
        </p:spPr>
        <p:txBody>
          <a:bodyPr wrap="square">
            <a:spAutoFit/>
          </a:bodyPr>
          <a:lstStyle/>
          <a:p>
            <a:pPr>
              <a:defRPr sz="1150" b="1">
                <a:solidFill>
                  <a:srgbClr val="0F172A"/>
                </a:solidFill>
                <a:latin typeface="Calibri"/>
              </a:defRPr>
            </a:pPr>
            <a:r>
              <a:t>Collection: Drives</a:t>
            </a:r>
          </a:p>
          <a:p>
            <a:pPr>
              <a:spcBef>
                <a:spcPts val="200"/>
              </a:spcBef>
              <a:defRPr sz="900">
                <a:solidFill>
                  <a:srgbClr val="64748B"/>
                </a:solidFill>
                <a:latin typeface="Calibri"/>
              </a:defRPr>
            </a:pPr>
            <a:r>
              <a:t>Recruitment drives, CTC, Criteria, Deadlines, Status</a:t>
            </a:r>
          </a:p>
        </p:txBody>
      </p:sp>
      <p:sp>
        <p:nvSpPr>
          <p:cNvPr id="15" name="Rounded Rectangle 14"/>
          <p:cNvSpPr/>
          <p:nvPr/>
        </p:nvSpPr>
        <p:spPr>
          <a:xfrm>
            <a:off x="731520" y="2999232"/>
            <a:ext cx="3383280" cy="118872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2999232"/>
            <a:ext cx="73152" cy="1188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3072384"/>
            <a:ext cx="3127248" cy="1042416"/>
          </a:xfrm>
          <a:prstGeom prst="rect">
            <a:avLst/>
          </a:prstGeom>
          <a:noFill/>
        </p:spPr>
        <p:txBody>
          <a:bodyPr wrap="square">
            <a:spAutoFit/>
          </a:bodyPr>
          <a:lstStyle/>
          <a:p>
            <a:pPr>
              <a:defRPr sz="1150" b="1">
                <a:solidFill>
                  <a:srgbClr val="0F172A"/>
                </a:solidFill>
                <a:latin typeface="Calibri"/>
              </a:defRPr>
            </a:pPr>
            <a:r>
              <a:t>Collection: Applications</a:t>
            </a:r>
          </a:p>
          <a:p>
            <a:pPr>
              <a:spcBef>
                <a:spcPts val="200"/>
              </a:spcBef>
              <a:defRPr sz="900">
                <a:solidFill>
                  <a:srgbClr val="64748B"/>
                </a:solidFill>
                <a:latin typeface="Calibri"/>
              </a:defRPr>
            </a:pPr>
            <a:r>
              <a:t>Candidate submissions, Stage, History, Timestamps</a:t>
            </a:r>
          </a:p>
        </p:txBody>
      </p:sp>
      <p:sp>
        <p:nvSpPr>
          <p:cNvPr id="18" name="Rounded Rectangle 17"/>
          <p:cNvSpPr/>
          <p:nvPr/>
        </p:nvSpPr>
        <p:spPr>
          <a:xfrm>
            <a:off x="4389120" y="2999232"/>
            <a:ext cx="3383280" cy="118872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89120" y="2999232"/>
            <a:ext cx="73152" cy="1188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53712" y="3072384"/>
            <a:ext cx="3127248" cy="1042416"/>
          </a:xfrm>
          <a:prstGeom prst="rect">
            <a:avLst/>
          </a:prstGeom>
          <a:noFill/>
        </p:spPr>
        <p:txBody>
          <a:bodyPr wrap="square">
            <a:spAutoFit/>
          </a:bodyPr>
          <a:lstStyle/>
          <a:p>
            <a:pPr>
              <a:defRPr sz="1150" b="1">
                <a:solidFill>
                  <a:srgbClr val="0F172A"/>
                </a:solidFill>
                <a:latin typeface="Calibri"/>
              </a:defRPr>
            </a:pPr>
            <a:r>
              <a:t>Collection: Offers</a:t>
            </a:r>
          </a:p>
          <a:p>
            <a:pPr>
              <a:spcBef>
                <a:spcPts val="200"/>
              </a:spcBef>
              <a:defRPr sz="900">
                <a:solidFill>
                  <a:srgbClr val="64748B"/>
                </a:solidFill>
                <a:latin typeface="Calibri"/>
              </a:defRPr>
            </a:pPr>
            <a:r>
              <a:t>CTC, Joining Date, Offer PDF, Acceptance status</a:t>
            </a:r>
          </a:p>
        </p:txBody>
      </p:sp>
      <p:sp>
        <p:nvSpPr>
          <p:cNvPr id="21" name="Rounded Rectangle 20"/>
          <p:cNvSpPr/>
          <p:nvPr/>
        </p:nvSpPr>
        <p:spPr>
          <a:xfrm>
            <a:off x="8046720" y="2999232"/>
            <a:ext cx="3383280" cy="118872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46720" y="2999232"/>
            <a:ext cx="73152" cy="1188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11312" y="3072384"/>
            <a:ext cx="3127248" cy="1042416"/>
          </a:xfrm>
          <a:prstGeom prst="rect">
            <a:avLst/>
          </a:prstGeom>
          <a:noFill/>
        </p:spPr>
        <p:txBody>
          <a:bodyPr wrap="square">
            <a:spAutoFit/>
          </a:bodyPr>
          <a:lstStyle/>
          <a:p>
            <a:pPr>
              <a:defRPr sz="1150" b="1">
                <a:solidFill>
                  <a:srgbClr val="0F172A"/>
                </a:solidFill>
                <a:latin typeface="Calibri"/>
              </a:defRPr>
            </a:pPr>
            <a:r>
              <a:t>Collection: Interviews</a:t>
            </a:r>
          </a:p>
          <a:p>
            <a:pPr>
              <a:spcBef>
                <a:spcPts val="200"/>
              </a:spcBef>
              <a:defRPr sz="900">
                <a:solidFill>
                  <a:srgbClr val="64748B"/>
                </a:solidFill>
                <a:latin typeface="Calibri"/>
              </a:defRPr>
            </a:pPr>
            <a:r>
              <a:t>Mode (Virtual/Offline), Meet URL, Room, Feedback</a:t>
            </a:r>
          </a:p>
        </p:txBody>
      </p:sp>
      <p:sp>
        <p:nvSpPr>
          <p:cNvPr id="24" name="Rounded Rectangle 23"/>
          <p:cNvSpPr/>
          <p:nvPr/>
        </p:nvSpPr>
        <p:spPr>
          <a:xfrm>
            <a:off x="731520" y="4352544"/>
            <a:ext cx="3383280" cy="1188720"/>
          </a:xfrm>
          <a:prstGeom prst="roundRect">
            <a:avLst/>
          </a:prstGeom>
          <a:solidFill>
            <a:srgbClr val="FFFFFF"/>
          </a:solidFill>
          <a:ln w="15240">
            <a:solidFill>
              <a:srgbClr val="2F8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1520" y="4352544"/>
            <a:ext cx="73152" cy="1188720"/>
          </a:xfrm>
          <a:prstGeom prst="rect">
            <a:avLst/>
          </a:prstGeom>
          <a:solidFill>
            <a:srgbClr val="2F8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6112" y="4425696"/>
            <a:ext cx="3127248" cy="1042416"/>
          </a:xfrm>
          <a:prstGeom prst="rect">
            <a:avLst/>
          </a:prstGeom>
          <a:noFill/>
        </p:spPr>
        <p:txBody>
          <a:bodyPr wrap="square">
            <a:spAutoFit/>
          </a:bodyPr>
          <a:lstStyle/>
          <a:p>
            <a:pPr>
              <a:defRPr sz="1150" b="1">
                <a:solidFill>
                  <a:srgbClr val="0F172A"/>
                </a:solidFill>
                <a:latin typeface="Calibri"/>
              </a:defRPr>
            </a:pPr>
            <a:r>
              <a:t>Collection: Departments</a:t>
            </a:r>
          </a:p>
          <a:p>
            <a:pPr>
              <a:spcBef>
                <a:spcPts val="200"/>
              </a:spcBef>
              <a:defRPr sz="900">
                <a:solidFill>
                  <a:srgbClr val="64748B"/>
                </a:solidFill>
                <a:latin typeface="Calibri"/>
              </a:defRPr>
            </a:pPr>
            <a:r>
              <a:t>Branch codes (CSE, IT, ECE), HOD assignments</a:t>
            </a:r>
          </a:p>
        </p:txBody>
      </p:sp>
      <p:sp>
        <p:nvSpPr>
          <p:cNvPr id="27" name="Rounded Rectangle 26"/>
          <p:cNvSpPr/>
          <p:nvPr/>
        </p:nvSpPr>
        <p:spPr>
          <a:xfrm>
            <a:off x="4389120" y="4352544"/>
            <a:ext cx="3383280" cy="1188720"/>
          </a:xfrm>
          <a:prstGeom prst="roundRect">
            <a:avLst/>
          </a:prstGeom>
          <a:solidFill>
            <a:srgbClr val="FFFFFF"/>
          </a:solidFill>
          <a:ln w="1524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389120" y="4352544"/>
            <a:ext cx="73152" cy="118872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53712" y="4425696"/>
            <a:ext cx="3127248" cy="1042416"/>
          </a:xfrm>
          <a:prstGeom prst="rect">
            <a:avLst/>
          </a:prstGeom>
          <a:noFill/>
        </p:spPr>
        <p:txBody>
          <a:bodyPr wrap="square">
            <a:spAutoFit/>
          </a:bodyPr>
          <a:lstStyle/>
          <a:p>
            <a:pPr>
              <a:defRPr sz="1150" b="1">
                <a:solidFill>
                  <a:srgbClr val="0F172A"/>
                </a:solidFill>
                <a:latin typeface="Calibri"/>
              </a:defRPr>
            </a:pPr>
            <a:r>
              <a:t>Collection: Notifications</a:t>
            </a:r>
          </a:p>
          <a:p>
            <a:pPr>
              <a:spcBef>
                <a:spcPts val="200"/>
              </a:spcBef>
              <a:defRPr sz="900">
                <a:solidFill>
                  <a:srgbClr val="64748B"/>
                </a:solidFill>
                <a:latin typeface="Calibri"/>
              </a:defRPr>
            </a:pPr>
            <a:r>
              <a:t>Real-time user alerts, Read/Unread status</a:t>
            </a:r>
          </a:p>
        </p:txBody>
      </p:sp>
      <p:sp>
        <p:nvSpPr>
          <p:cNvPr id="30" name="Rounded Rectangle 29"/>
          <p:cNvSpPr/>
          <p:nvPr/>
        </p:nvSpPr>
        <p:spPr>
          <a:xfrm>
            <a:off x="8046720" y="4352544"/>
            <a:ext cx="3383280" cy="1188720"/>
          </a:xfrm>
          <a:prstGeom prst="roundRect">
            <a:avLst/>
          </a:prstGeom>
          <a:solidFill>
            <a:srgbClr val="FFFFFF"/>
          </a:solidFill>
          <a:ln w="1524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46720" y="4352544"/>
            <a:ext cx="73152" cy="1188720"/>
          </a:xfrm>
          <a:prstGeom prst="rect">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11312" y="4425696"/>
            <a:ext cx="3127248" cy="1042416"/>
          </a:xfrm>
          <a:prstGeom prst="rect">
            <a:avLst/>
          </a:prstGeom>
          <a:noFill/>
        </p:spPr>
        <p:txBody>
          <a:bodyPr wrap="square">
            <a:spAutoFit/>
          </a:bodyPr>
          <a:lstStyle/>
          <a:p>
            <a:pPr>
              <a:defRPr sz="1150" b="1">
                <a:solidFill>
                  <a:srgbClr val="0F172A"/>
                </a:solidFill>
                <a:latin typeface="Calibri"/>
              </a:defRPr>
            </a:pPr>
            <a:r>
              <a:t>Collection: AuditLogs</a:t>
            </a:r>
          </a:p>
          <a:p>
            <a:pPr>
              <a:spcBef>
                <a:spcPts val="200"/>
              </a:spcBef>
              <a:defRPr sz="900">
                <a:solidFill>
                  <a:srgbClr val="64748B"/>
                </a:solidFill>
                <a:latin typeface="Calibri"/>
              </a:defRPr>
            </a:pPr>
            <a:r>
              <a:t>Immutable security ledger of all administrative actions</a:t>
            </a:r>
          </a:p>
        </p:txBody>
      </p:sp>
      <p:sp>
        <p:nvSpPr>
          <p:cNvPr id="33" name="Rounded Rectangle 32"/>
          <p:cNvSpPr/>
          <p:nvPr/>
        </p:nvSpPr>
        <p:spPr>
          <a:xfrm>
            <a:off x="731520" y="5486400"/>
            <a:ext cx="10728655" cy="777240"/>
          </a:xfrm>
          <a:prstGeom prst="roundRect">
            <a:avLst/>
          </a:prstGeom>
          <a:solidFill>
            <a:srgbClr val="E6F6F1"/>
          </a:solidFill>
          <a:ln w="12700">
            <a:solidFill>
              <a:srgbClr val="2F8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4400" y="5532120"/>
            <a:ext cx="10362895" cy="685800"/>
          </a:xfrm>
          <a:prstGeom prst="rect">
            <a:avLst/>
          </a:prstGeom>
          <a:noFill/>
        </p:spPr>
        <p:txBody>
          <a:bodyPr wrap="none">
            <a:spAutoFit/>
          </a:bodyPr>
          <a:lstStyle/>
          <a:p>
            <a:pPr>
              <a:defRPr sz="1000" b="1">
                <a:solidFill>
                  <a:srgbClr val="2F8F78"/>
                </a:solidFill>
                <a:latin typeface="Calibri"/>
              </a:defRPr>
            </a:pPr>
            <a:r>
              <a:t>COMPOUND INDEX INTEGRITY:  `Applications.index({ student: 1, drive: 1 }, { unique: true })`</a:t>
            </a:r>
          </a:p>
          <a:p>
            <a:pPr>
              <a:spcBef>
                <a:spcPts val="200"/>
              </a:spcBef>
              <a:defRPr sz="900">
                <a:solidFill>
                  <a:srgbClr val="0F172A"/>
                </a:solidFill>
                <a:latin typeface="Calibri"/>
              </a:defRPr>
            </a:pPr>
            <a:r>
              <a:t>Guarantees zero race-condition duplicates even under high-concurrency burst traffic during drive application deadlines.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F8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46520"/>
            <a:ext cx="10728655" cy="320040"/>
          </a:xfrm>
          <a:prstGeom prst="rect">
            <a:avLst/>
          </a:prstGeom>
          <a:noFill/>
        </p:spPr>
        <p:txBody>
          <a:bodyPr wrap="square">
            <a:spAutoFit/>
          </a:bodyPr>
          <a:lstStyle/>
          <a:p>
            <a:pPr algn="ctr">
              <a:defRPr sz="850">
                <a:solidFill>
                  <a:srgbClr val="64748B"/>
                </a:solidFill>
                <a:latin typeface="Calibri"/>
              </a:defRPr>
            </a:pPr>
            <a:r>
              <a:t>UdyamPath (उद्यमपथ) — Tier-1 Campus Placement Operating System  |  Rahul Sharma  |  Slide 14 of 20</a:t>
            </a:r>
          </a:p>
        </p:txBody>
      </p:sp>
      <p:sp>
        <p:nvSpPr>
          <p:cNvPr id="5" name="TextBox 4"/>
          <p:cNvSpPr txBox="1"/>
          <p:nvPr/>
        </p:nvSpPr>
        <p:spPr>
          <a:xfrm>
            <a:off x="731520" y="320040"/>
            <a:ext cx="10728655" cy="1097280"/>
          </a:xfrm>
          <a:prstGeom prst="rect">
            <a:avLst/>
          </a:prstGeom>
          <a:noFill/>
        </p:spPr>
        <p:txBody>
          <a:bodyPr wrap="square" lIns="0" tIns="0" rIns="0" bIns="0">
            <a:spAutoFit/>
          </a:bodyPr>
          <a:lstStyle/>
          <a:p>
            <a:pPr>
              <a:defRPr sz="950" b="1">
                <a:solidFill>
                  <a:srgbClr val="2F8F78"/>
                </a:solidFill>
                <a:latin typeface="Calibri"/>
              </a:defRPr>
            </a:pPr>
            <a:r>
              <a:t>CYBERSECURITY &amp; DEFENSE</a:t>
            </a:r>
          </a:p>
          <a:p>
            <a:pPr>
              <a:spcBef>
                <a:spcPts val="200"/>
              </a:spcBef>
              <a:defRPr sz="2200" b="1">
                <a:solidFill>
                  <a:srgbClr val="0F172A"/>
                </a:solidFill>
                <a:latin typeface="Calibri"/>
              </a:defRPr>
            </a:pPr>
            <a:r>
              <a:t>Security Architecture: Defense-in-Depth Protection</a:t>
            </a:r>
          </a:p>
          <a:p>
            <a:pPr>
              <a:spcBef>
                <a:spcPts val="200"/>
              </a:spcBef>
              <a:defRPr sz="1100">
                <a:solidFill>
                  <a:srgbClr val="64748B"/>
                </a:solidFill>
                <a:latin typeface="Calibri"/>
              </a:defRPr>
            </a:pPr>
            <a:r>
              <a:t>Comprehensive implementation of OWASP Top 10 mitigations and cryptographic standards.</a:t>
            </a:r>
          </a:p>
        </p:txBody>
      </p:sp>
      <p:sp>
        <p:nvSpPr>
          <p:cNvPr id="6" name="Rounded Rectangle 5"/>
          <p:cNvSpPr/>
          <p:nvPr/>
        </p:nvSpPr>
        <p:spPr>
          <a:xfrm>
            <a:off x="731520" y="1645920"/>
            <a:ext cx="2468880" cy="4480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45920"/>
            <a:ext cx="2468880" cy="73152"/>
          </a:xfrm>
          <a:prstGeom prst="rect">
            <a:avLst/>
          </a:prstGeom>
          <a:solidFill>
            <a:srgbClr val="2F8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10512"/>
            <a:ext cx="2103120" cy="4206240"/>
          </a:xfrm>
          <a:prstGeom prst="rect">
            <a:avLst/>
          </a:prstGeom>
          <a:noFill/>
        </p:spPr>
        <p:txBody>
          <a:bodyPr wrap="square" lIns="0" tIns="0">
            <a:spAutoFit/>
          </a:bodyPr>
          <a:lstStyle/>
          <a:p>
            <a:pPr>
              <a:defRPr sz="850" b="1">
                <a:solidFill>
                  <a:srgbClr val="2F8F78"/>
                </a:solidFill>
                <a:latin typeface="Calibri"/>
              </a:defRPr>
            </a:pPr>
            <a:r>
              <a:t>AUTHENTICATION &amp; CRYPTO</a:t>
            </a:r>
          </a:p>
          <a:p>
            <a:pPr>
              <a:spcBef>
                <a:spcPts val="300"/>
              </a:spcBef>
              <a:defRPr sz="1350" b="1">
                <a:solidFill>
                  <a:srgbClr val="0F172A"/>
                </a:solidFill>
                <a:latin typeface="Calibri"/>
              </a:defRPr>
            </a:pPr>
            <a:r>
              <a:t>JWT &amp; Bcrypt Password Hashing</a:t>
            </a:r>
          </a:p>
          <a:p>
            <a:pPr>
              <a:spcBef>
                <a:spcPts val="500"/>
              </a:spcBef>
              <a:defRPr sz="950">
                <a:solidFill>
                  <a:srgbClr val="0F172A"/>
                </a:solidFill>
                <a:latin typeface="Calibri"/>
              </a:defRPr>
            </a:pPr>
            <a:r>
              <a:t>▪  Stateless JSON Web Tokens signed with HMAC-SHA256.</a:t>
            </a:r>
          </a:p>
          <a:p>
            <a:pPr>
              <a:spcBef>
                <a:spcPts val="500"/>
              </a:spcBef>
              <a:defRPr sz="950">
                <a:solidFill>
                  <a:srgbClr val="0F172A"/>
                </a:solidFill>
                <a:latin typeface="Calibri"/>
              </a:defRPr>
            </a:pPr>
            <a:r>
              <a:t>▪  Bcrypt password hashing with 10 salt rounds.</a:t>
            </a:r>
          </a:p>
          <a:p>
            <a:pPr>
              <a:spcBef>
                <a:spcPts val="500"/>
              </a:spcBef>
              <a:defRPr sz="950">
                <a:solidFill>
                  <a:srgbClr val="0F172A"/>
                </a:solidFill>
                <a:latin typeface="Calibri"/>
              </a:defRPr>
            </a:pPr>
            <a:r>
              <a:t>▪  Automatic token expiration &amp; Bearer token authorization header validation.</a:t>
            </a:r>
          </a:p>
        </p:txBody>
      </p:sp>
      <p:sp>
        <p:nvSpPr>
          <p:cNvPr id="9" name="Rounded Rectangle 8"/>
          <p:cNvSpPr/>
          <p:nvPr/>
        </p:nvSpPr>
        <p:spPr>
          <a:xfrm>
            <a:off x="3474720" y="1645920"/>
            <a:ext cx="2468880" cy="4480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474720" y="1645920"/>
            <a:ext cx="2468880" cy="73152"/>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0" y="1810512"/>
            <a:ext cx="2103120" cy="4206240"/>
          </a:xfrm>
          <a:prstGeom prst="rect">
            <a:avLst/>
          </a:prstGeom>
          <a:noFill/>
        </p:spPr>
        <p:txBody>
          <a:bodyPr wrap="square" lIns="0" tIns="0">
            <a:spAutoFit/>
          </a:bodyPr>
          <a:lstStyle/>
          <a:p>
            <a:pPr>
              <a:defRPr sz="850" b="1">
                <a:solidFill>
                  <a:srgbClr val="6366F1"/>
                </a:solidFill>
                <a:latin typeface="Calibri"/>
              </a:defRPr>
            </a:pPr>
            <a:r>
              <a:t>NETWORK &amp; PERIMETER</a:t>
            </a:r>
          </a:p>
          <a:p>
            <a:pPr>
              <a:spcBef>
                <a:spcPts val="300"/>
              </a:spcBef>
              <a:defRPr sz="1350" b="1">
                <a:solidFill>
                  <a:srgbClr val="0F172A"/>
                </a:solidFill>
                <a:latin typeface="Calibri"/>
              </a:defRPr>
            </a:pPr>
            <a:r>
              <a:t>Helmet, CORS &amp; Rate Limiting</a:t>
            </a:r>
          </a:p>
          <a:p>
            <a:pPr>
              <a:spcBef>
                <a:spcPts val="500"/>
              </a:spcBef>
              <a:defRPr sz="950">
                <a:solidFill>
                  <a:srgbClr val="0F172A"/>
                </a:solidFill>
                <a:latin typeface="Calibri"/>
              </a:defRPr>
            </a:pPr>
            <a:r>
              <a:t>▪  Helmet security headers preventing Clickjacking and MIME sniffing.</a:t>
            </a:r>
          </a:p>
          <a:p>
            <a:pPr>
              <a:spcBef>
                <a:spcPts val="500"/>
              </a:spcBef>
              <a:defRPr sz="950">
                <a:solidFill>
                  <a:srgbClr val="0F172A"/>
                </a:solidFill>
                <a:latin typeface="Calibri"/>
              </a:defRPr>
            </a:pPr>
            <a:r>
              <a:t>▪  Strict Cross-Origin Resource Sharing (CORS) whitelisting.</a:t>
            </a:r>
          </a:p>
          <a:p>
            <a:pPr>
              <a:spcBef>
                <a:spcPts val="500"/>
              </a:spcBef>
              <a:defRPr sz="950">
                <a:solidFill>
                  <a:srgbClr val="0F172A"/>
                </a:solidFill>
                <a:latin typeface="Calibri"/>
              </a:defRPr>
            </a:pPr>
            <a:r>
              <a:t>▪  express-rate-limit throttling: 100 requests per 15 minutes per IP.</a:t>
            </a:r>
          </a:p>
        </p:txBody>
      </p:sp>
      <p:sp>
        <p:nvSpPr>
          <p:cNvPr id="12" name="Rounded Rectangle 11"/>
          <p:cNvSpPr/>
          <p:nvPr/>
        </p:nvSpPr>
        <p:spPr>
          <a:xfrm>
            <a:off x="6217920" y="1645920"/>
            <a:ext cx="2468880" cy="4480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645920"/>
            <a:ext cx="2468880" cy="73152"/>
          </a:xfrm>
          <a:prstGeom prst="rect">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1810512"/>
            <a:ext cx="2103120" cy="4206240"/>
          </a:xfrm>
          <a:prstGeom prst="rect">
            <a:avLst/>
          </a:prstGeom>
          <a:noFill/>
        </p:spPr>
        <p:txBody>
          <a:bodyPr wrap="square" lIns="0" tIns="0">
            <a:spAutoFit/>
          </a:bodyPr>
          <a:lstStyle/>
          <a:p>
            <a:pPr>
              <a:defRPr sz="850" b="1">
                <a:solidFill>
                  <a:srgbClr val="9333EA"/>
                </a:solidFill>
                <a:latin typeface="Calibri"/>
              </a:defRPr>
            </a:pPr>
            <a:r>
              <a:t>INPUT SANITIZATION</a:t>
            </a:r>
          </a:p>
          <a:p>
            <a:pPr>
              <a:spcBef>
                <a:spcPts val="300"/>
              </a:spcBef>
              <a:defRPr sz="1350" b="1">
                <a:solidFill>
                  <a:srgbClr val="0F172A"/>
                </a:solidFill>
                <a:latin typeface="Calibri"/>
              </a:defRPr>
            </a:pPr>
            <a:r>
              <a:t>OWASP Top 10 Threat Mitigation</a:t>
            </a:r>
          </a:p>
          <a:p>
            <a:pPr>
              <a:spcBef>
                <a:spcPts val="500"/>
              </a:spcBef>
              <a:defRPr sz="950">
                <a:solidFill>
                  <a:srgbClr val="0F172A"/>
                </a:solidFill>
                <a:latin typeface="Calibri"/>
              </a:defRPr>
            </a:pPr>
            <a:r>
              <a:t>▪  Mongoose parameterized queries preventing NoSQL injection.</a:t>
            </a:r>
          </a:p>
          <a:p>
            <a:pPr>
              <a:spcBef>
                <a:spcPts val="500"/>
              </a:spcBef>
              <a:defRPr sz="950">
                <a:solidFill>
                  <a:srgbClr val="0F172A"/>
                </a:solidFill>
                <a:latin typeface="Calibri"/>
              </a:defRPr>
            </a:pPr>
            <a:r>
              <a:t>▪  Strict regex validation on all email, roll number, and CGPA inputs.</a:t>
            </a:r>
          </a:p>
          <a:p>
            <a:pPr>
              <a:spcBef>
                <a:spcPts val="500"/>
              </a:spcBef>
              <a:defRPr sz="950">
                <a:solidFill>
                  <a:srgbClr val="0F172A"/>
                </a:solidFill>
                <a:latin typeface="Calibri"/>
              </a:defRPr>
            </a:pPr>
            <a:r>
              <a:t>▪  Multer file-type validation rejecting non-PDF uploads.</a:t>
            </a:r>
          </a:p>
        </p:txBody>
      </p:sp>
      <p:sp>
        <p:nvSpPr>
          <p:cNvPr id="15" name="Rounded Rectangle 14"/>
          <p:cNvSpPr/>
          <p:nvPr/>
        </p:nvSpPr>
        <p:spPr>
          <a:xfrm>
            <a:off x="8961120" y="1645920"/>
            <a:ext cx="2468880" cy="4480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961120" y="1645920"/>
            <a:ext cx="2468880"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0" y="1810512"/>
            <a:ext cx="2103120" cy="4206240"/>
          </a:xfrm>
          <a:prstGeom prst="rect">
            <a:avLst/>
          </a:prstGeom>
          <a:noFill/>
        </p:spPr>
        <p:txBody>
          <a:bodyPr wrap="square" lIns="0" tIns="0">
            <a:spAutoFit/>
          </a:bodyPr>
          <a:lstStyle/>
          <a:p>
            <a:pPr>
              <a:defRPr sz="850" b="1">
                <a:solidFill>
                  <a:srgbClr val="F59E0B"/>
                </a:solidFill>
                <a:latin typeface="Calibri"/>
              </a:defRPr>
            </a:pPr>
            <a:r>
              <a:t>AUDIT &amp; GOVERNANCE</a:t>
            </a:r>
          </a:p>
          <a:p>
            <a:pPr>
              <a:spcBef>
                <a:spcPts val="300"/>
              </a:spcBef>
              <a:defRPr sz="1350" b="1">
                <a:solidFill>
                  <a:srgbClr val="0F172A"/>
                </a:solidFill>
                <a:latin typeface="Calibri"/>
              </a:defRPr>
            </a:pPr>
            <a:r>
              <a:t>Immutable Audit Logging</a:t>
            </a:r>
          </a:p>
          <a:p>
            <a:pPr>
              <a:spcBef>
                <a:spcPts val="500"/>
              </a:spcBef>
              <a:defRPr sz="950">
                <a:solidFill>
                  <a:srgbClr val="0F172A"/>
                </a:solidFill>
                <a:latin typeface="Calibri"/>
              </a:defRPr>
            </a:pPr>
            <a:r>
              <a:t>▪  Comprehensive audit records capturing timestamp, actor, IP, and action.</a:t>
            </a:r>
          </a:p>
          <a:p>
            <a:pPr>
              <a:spcBef>
                <a:spcPts val="500"/>
              </a:spcBef>
              <a:defRPr sz="950">
                <a:solidFill>
                  <a:srgbClr val="0F172A"/>
                </a:solidFill>
                <a:latin typeface="Calibri"/>
              </a:defRPr>
            </a:pPr>
            <a:r>
              <a:t>▪  Admin-only access to historical modification logs.</a:t>
            </a:r>
          </a:p>
          <a:p>
            <a:pPr>
              <a:spcBef>
                <a:spcPts val="500"/>
              </a:spcBef>
              <a:defRPr sz="950">
                <a:solidFill>
                  <a:srgbClr val="0F172A"/>
                </a:solidFill>
                <a:latin typeface="Calibri"/>
              </a:defRPr>
            </a:pPr>
            <a:r>
              <a:t>▪  Guarantees forensic accountability for all institutional records.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F8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46520"/>
            <a:ext cx="10728655" cy="320040"/>
          </a:xfrm>
          <a:prstGeom prst="rect">
            <a:avLst/>
          </a:prstGeom>
          <a:noFill/>
        </p:spPr>
        <p:txBody>
          <a:bodyPr wrap="square">
            <a:spAutoFit/>
          </a:bodyPr>
          <a:lstStyle/>
          <a:p>
            <a:pPr algn="ctr">
              <a:defRPr sz="850">
                <a:solidFill>
                  <a:srgbClr val="64748B"/>
                </a:solidFill>
                <a:latin typeface="Calibri"/>
              </a:defRPr>
            </a:pPr>
            <a:r>
              <a:t>UdyamPath (उद्यमपथ) — Tier-1 Campus Placement Operating System  |  Rahul Sharma  |  Slide 15 of 20</a:t>
            </a:r>
          </a:p>
        </p:txBody>
      </p:sp>
      <p:sp>
        <p:nvSpPr>
          <p:cNvPr id="5" name="TextBox 4"/>
          <p:cNvSpPr txBox="1"/>
          <p:nvPr/>
        </p:nvSpPr>
        <p:spPr>
          <a:xfrm>
            <a:off x="731520" y="320040"/>
            <a:ext cx="10728655" cy="1097280"/>
          </a:xfrm>
          <a:prstGeom prst="rect">
            <a:avLst/>
          </a:prstGeom>
          <a:noFill/>
        </p:spPr>
        <p:txBody>
          <a:bodyPr wrap="square" lIns="0" tIns="0" rIns="0" bIns="0">
            <a:spAutoFit/>
          </a:bodyPr>
          <a:lstStyle/>
          <a:p>
            <a:pPr>
              <a:defRPr sz="950" b="1">
                <a:solidFill>
                  <a:srgbClr val="2F8F78"/>
                </a:solidFill>
                <a:latin typeface="Calibri"/>
              </a:defRPr>
            </a:pPr>
            <a:r>
              <a:t>EMPIRICAL VALIDATION</a:t>
            </a:r>
          </a:p>
          <a:p>
            <a:pPr>
              <a:spcBef>
                <a:spcPts val="200"/>
              </a:spcBef>
              <a:defRPr sz="2200" b="1">
                <a:solidFill>
                  <a:srgbClr val="0F172A"/>
                </a:solidFill>
                <a:latin typeface="Calibri"/>
              </a:defRPr>
            </a:pPr>
            <a:r>
              <a:t>Performance Benchmarks &amp; Empirical Stress Tests</a:t>
            </a:r>
          </a:p>
          <a:p>
            <a:pPr>
              <a:spcBef>
                <a:spcPts val="200"/>
              </a:spcBef>
              <a:defRPr sz="1100">
                <a:solidFill>
                  <a:srgbClr val="64748B"/>
                </a:solidFill>
                <a:latin typeface="Calibri"/>
              </a:defRPr>
            </a:pPr>
            <a:r>
              <a:t>Benchmarked under high-concurrency loads simulating 500+ simultaneous campus applicants.</a:t>
            </a:r>
          </a:p>
        </p:txBody>
      </p:sp>
      <p:sp>
        <p:nvSpPr>
          <p:cNvPr id="6" name="Rounded Rectangle 5"/>
          <p:cNvSpPr/>
          <p:nvPr/>
        </p:nvSpPr>
        <p:spPr>
          <a:xfrm>
            <a:off x="731520" y="1645920"/>
            <a:ext cx="2468880" cy="14630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1645920"/>
            <a:ext cx="2194560" cy="36576"/>
          </a:xfrm>
          <a:prstGeom prst="rect">
            <a:avLst/>
          </a:prstGeom>
          <a:solidFill>
            <a:srgbClr val="2F8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755648"/>
            <a:ext cx="2194560" cy="1280160"/>
          </a:xfrm>
          <a:prstGeom prst="rect">
            <a:avLst/>
          </a:prstGeom>
          <a:noFill/>
        </p:spPr>
        <p:txBody>
          <a:bodyPr wrap="square" lIns="0" tIns="0">
            <a:spAutoFit/>
          </a:bodyPr>
          <a:lstStyle/>
          <a:p>
            <a:pPr algn="ctr">
              <a:defRPr sz="2400" b="1">
                <a:solidFill>
                  <a:srgbClr val="2F8F78"/>
                </a:solidFill>
                <a:latin typeface="Calibri"/>
              </a:defRPr>
            </a:pPr>
            <a:r>
              <a:t>1,120</a:t>
            </a:r>
          </a:p>
          <a:p>
            <a:pPr algn="ctr">
              <a:spcBef>
                <a:spcPts val="300"/>
              </a:spcBef>
              <a:defRPr sz="950" b="1">
                <a:solidFill>
                  <a:srgbClr val="0F172A"/>
                </a:solidFill>
                <a:latin typeface="Calibri"/>
              </a:defRPr>
            </a:pPr>
            <a:r>
              <a:t>REQ / SEC PEAK</a:t>
            </a:r>
          </a:p>
          <a:p>
            <a:pPr algn="ctr">
              <a:spcBef>
                <a:spcPts val="200"/>
              </a:spcBef>
              <a:defRPr sz="850">
                <a:solidFill>
                  <a:srgbClr val="64748B"/>
                </a:solidFill>
                <a:latin typeface="Calibri"/>
              </a:defRPr>
            </a:pPr>
            <a:r>
              <a:t>Autocannon Load Testing</a:t>
            </a:r>
          </a:p>
        </p:txBody>
      </p:sp>
      <p:sp>
        <p:nvSpPr>
          <p:cNvPr id="9" name="Rounded Rectangle 8"/>
          <p:cNvSpPr/>
          <p:nvPr/>
        </p:nvSpPr>
        <p:spPr>
          <a:xfrm>
            <a:off x="3474720" y="1645920"/>
            <a:ext cx="2468880" cy="14630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11880" y="1645920"/>
            <a:ext cx="219456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11880" y="1755648"/>
            <a:ext cx="2194560" cy="1280160"/>
          </a:xfrm>
          <a:prstGeom prst="rect">
            <a:avLst/>
          </a:prstGeom>
          <a:noFill/>
        </p:spPr>
        <p:txBody>
          <a:bodyPr wrap="square" lIns="0" tIns="0">
            <a:spAutoFit/>
          </a:bodyPr>
          <a:lstStyle/>
          <a:p>
            <a:pPr algn="ctr">
              <a:defRPr sz="2400" b="1">
                <a:solidFill>
                  <a:srgbClr val="6366F1"/>
                </a:solidFill>
                <a:latin typeface="Calibri"/>
              </a:defRPr>
            </a:pPr>
            <a:r>
              <a:t>18.5 ms</a:t>
            </a:r>
          </a:p>
          <a:p>
            <a:pPr algn="ctr">
              <a:spcBef>
                <a:spcPts val="300"/>
              </a:spcBef>
              <a:defRPr sz="950" b="1">
                <a:solidFill>
                  <a:srgbClr val="0F172A"/>
                </a:solidFill>
                <a:latin typeface="Calibri"/>
              </a:defRPr>
            </a:pPr>
            <a:r>
              <a:t>AVG RESPONSE TIME</a:t>
            </a:r>
          </a:p>
          <a:p>
            <a:pPr algn="ctr">
              <a:spcBef>
                <a:spcPts val="200"/>
              </a:spcBef>
              <a:defRPr sz="850">
                <a:solidFill>
                  <a:srgbClr val="64748B"/>
                </a:solidFill>
                <a:latin typeface="Calibri"/>
              </a:defRPr>
            </a:pPr>
            <a:r>
              <a:t>Sub-20ms P95 Latency</a:t>
            </a:r>
          </a:p>
        </p:txBody>
      </p:sp>
      <p:sp>
        <p:nvSpPr>
          <p:cNvPr id="12" name="Rounded Rectangle 11"/>
          <p:cNvSpPr/>
          <p:nvPr/>
        </p:nvSpPr>
        <p:spPr>
          <a:xfrm>
            <a:off x="6217920" y="1645920"/>
            <a:ext cx="2468880" cy="14630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1645920"/>
            <a:ext cx="2194560"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755648"/>
            <a:ext cx="2194560" cy="1280160"/>
          </a:xfrm>
          <a:prstGeom prst="rect">
            <a:avLst/>
          </a:prstGeom>
          <a:noFill/>
        </p:spPr>
        <p:txBody>
          <a:bodyPr wrap="square" lIns="0" tIns="0">
            <a:spAutoFit/>
          </a:bodyPr>
          <a:lstStyle/>
          <a:p>
            <a:pPr algn="ctr">
              <a:defRPr sz="2400" b="1">
                <a:solidFill>
                  <a:srgbClr val="10B981"/>
                </a:solidFill>
                <a:latin typeface="Calibri"/>
              </a:defRPr>
            </a:pPr>
            <a:r>
              <a:t>0.00%</a:t>
            </a:r>
          </a:p>
          <a:p>
            <a:pPr algn="ctr">
              <a:spcBef>
                <a:spcPts val="300"/>
              </a:spcBef>
              <a:defRPr sz="950" b="1">
                <a:solidFill>
                  <a:srgbClr val="0F172A"/>
                </a:solidFill>
                <a:latin typeface="Calibri"/>
              </a:defRPr>
            </a:pPr>
            <a:r>
              <a:t>ERROR RATE</a:t>
            </a:r>
          </a:p>
          <a:p>
            <a:pPr algn="ctr">
              <a:spcBef>
                <a:spcPts val="200"/>
              </a:spcBef>
              <a:defRPr sz="850">
                <a:solidFill>
                  <a:srgbClr val="64748B"/>
                </a:solidFill>
                <a:latin typeface="Calibri"/>
              </a:defRPr>
            </a:pPr>
            <a:r>
              <a:t>Zero Failures @ 500 VUs</a:t>
            </a:r>
          </a:p>
        </p:txBody>
      </p:sp>
      <p:sp>
        <p:nvSpPr>
          <p:cNvPr id="15" name="Rounded Rectangle 14"/>
          <p:cNvSpPr/>
          <p:nvPr/>
        </p:nvSpPr>
        <p:spPr>
          <a:xfrm>
            <a:off x="8961120" y="1645920"/>
            <a:ext cx="2468880" cy="14630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098280" y="1645920"/>
            <a:ext cx="2194560" cy="36576"/>
          </a:xfrm>
          <a:prstGeom prst="rect">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98280" y="1755648"/>
            <a:ext cx="2194560" cy="1280160"/>
          </a:xfrm>
          <a:prstGeom prst="rect">
            <a:avLst/>
          </a:prstGeom>
          <a:noFill/>
        </p:spPr>
        <p:txBody>
          <a:bodyPr wrap="square" lIns="0" tIns="0">
            <a:spAutoFit/>
          </a:bodyPr>
          <a:lstStyle/>
          <a:p>
            <a:pPr algn="ctr">
              <a:defRPr sz="2400" b="1">
                <a:solidFill>
                  <a:srgbClr val="9333EA"/>
                </a:solidFill>
                <a:latin typeface="Calibri"/>
              </a:defRPr>
            </a:pPr>
            <a:r>
              <a:t>88.5</a:t>
            </a:r>
          </a:p>
          <a:p>
            <a:pPr algn="ctr">
              <a:spcBef>
                <a:spcPts val="300"/>
              </a:spcBef>
              <a:defRPr sz="950" b="1">
                <a:solidFill>
                  <a:srgbClr val="0F172A"/>
                </a:solidFill>
                <a:latin typeface="Calibri"/>
              </a:defRPr>
            </a:pPr>
            <a:r>
              <a:t>SUS USABILITY SCORE</a:t>
            </a:r>
          </a:p>
          <a:p>
            <a:pPr algn="ctr">
              <a:spcBef>
                <a:spcPts val="200"/>
              </a:spcBef>
              <a:defRPr sz="850">
                <a:solidFill>
                  <a:srgbClr val="64748B"/>
                </a:solidFill>
                <a:latin typeface="Calibri"/>
              </a:defRPr>
            </a:pPr>
            <a:r>
              <a:t>Grade A+ User Experience</a:t>
            </a:r>
          </a:p>
        </p:txBody>
      </p:sp>
      <p:sp>
        <p:nvSpPr>
          <p:cNvPr id="18" name="Rounded Rectangle 17"/>
          <p:cNvSpPr/>
          <p:nvPr/>
        </p:nvSpPr>
        <p:spPr>
          <a:xfrm>
            <a:off x="731520" y="3337560"/>
            <a:ext cx="5242255" cy="27889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1520" y="3337560"/>
            <a:ext cx="5242255" cy="73152"/>
          </a:xfrm>
          <a:prstGeom prst="rect">
            <a:avLst/>
          </a:prstGeom>
          <a:solidFill>
            <a:srgbClr val="2F8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502152"/>
            <a:ext cx="4876495" cy="2514600"/>
          </a:xfrm>
          <a:prstGeom prst="rect">
            <a:avLst/>
          </a:prstGeom>
          <a:noFill/>
        </p:spPr>
        <p:txBody>
          <a:bodyPr wrap="square" lIns="0" tIns="0">
            <a:spAutoFit/>
          </a:bodyPr>
          <a:lstStyle/>
          <a:p>
            <a:pPr>
              <a:defRPr sz="850" b="1">
                <a:solidFill>
                  <a:srgbClr val="2F8F78"/>
                </a:solidFill>
                <a:latin typeface="Calibri"/>
              </a:defRPr>
            </a:pPr>
            <a:r>
              <a:t>LOAD TESTING HARNESS (AUTOCANNON &amp; K6)</a:t>
            </a:r>
          </a:p>
          <a:p>
            <a:pPr>
              <a:spcBef>
                <a:spcPts val="300"/>
              </a:spcBef>
              <a:defRPr sz="1350" b="1">
                <a:solidFill>
                  <a:srgbClr val="0F172A"/>
                </a:solidFill>
                <a:latin typeface="Calibri"/>
              </a:defRPr>
            </a:pPr>
            <a:r>
              <a:t>High-Concurrency API Stress Test Results</a:t>
            </a:r>
          </a:p>
          <a:p>
            <a:pPr>
              <a:spcBef>
                <a:spcPts val="500"/>
              </a:spcBef>
              <a:defRPr sz="950">
                <a:solidFill>
                  <a:srgbClr val="0F172A"/>
                </a:solidFill>
                <a:latin typeface="Calibri"/>
              </a:defRPr>
            </a:pPr>
            <a:r>
              <a:t>▪  Conducted load testing with 500 concurrent virtual users over 60 seconds.</a:t>
            </a:r>
          </a:p>
          <a:p>
            <a:pPr>
              <a:spcBef>
                <a:spcPts val="500"/>
              </a:spcBef>
              <a:defRPr sz="950">
                <a:solidFill>
                  <a:srgbClr val="0F172A"/>
                </a:solidFill>
                <a:latin typeface="Calibri"/>
              </a:defRPr>
            </a:pPr>
            <a:r>
              <a:t>▪  Authentication Endpoint: Sustained 850 req/sec with average latency of 22.4ms.</a:t>
            </a:r>
          </a:p>
          <a:p>
            <a:pPr>
              <a:spcBef>
                <a:spcPts val="500"/>
              </a:spcBef>
              <a:defRPr sz="950">
                <a:solidFill>
                  <a:srgbClr val="0F172A"/>
                </a:solidFill>
                <a:latin typeface="Calibri"/>
              </a:defRPr>
            </a:pPr>
            <a:r>
              <a:t>▪  Drive Listing Endpoint: Sustained 1,120 req/sec with average latency of 18.5ms.</a:t>
            </a:r>
          </a:p>
          <a:p>
            <a:pPr>
              <a:spcBef>
                <a:spcPts val="500"/>
              </a:spcBef>
              <a:defRPr sz="950">
                <a:solidFill>
                  <a:srgbClr val="0F172A"/>
                </a:solidFill>
                <a:latin typeface="Calibri"/>
              </a:defRPr>
            </a:pPr>
            <a:r>
              <a:t>▪  Zero socket hang-ups or memory leaks detected under continuous saturation.</a:t>
            </a:r>
          </a:p>
        </p:txBody>
      </p:sp>
      <p:sp>
        <p:nvSpPr>
          <p:cNvPr id="21" name="Rounded Rectangle 20"/>
          <p:cNvSpPr/>
          <p:nvPr/>
        </p:nvSpPr>
        <p:spPr>
          <a:xfrm>
            <a:off x="6217920" y="3337560"/>
            <a:ext cx="5242255" cy="27889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17920" y="3337560"/>
            <a:ext cx="5242255" cy="73152"/>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0" y="3502152"/>
            <a:ext cx="4876495" cy="2514600"/>
          </a:xfrm>
          <a:prstGeom prst="rect">
            <a:avLst/>
          </a:prstGeom>
          <a:noFill/>
        </p:spPr>
        <p:txBody>
          <a:bodyPr wrap="square" lIns="0" tIns="0">
            <a:spAutoFit/>
          </a:bodyPr>
          <a:lstStyle/>
          <a:p>
            <a:pPr>
              <a:defRPr sz="850" b="1">
                <a:solidFill>
                  <a:srgbClr val="6366F1"/>
                </a:solidFill>
                <a:latin typeface="Calibri"/>
              </a:defRPr>
            </a:pPr>
            <a:r>
              <a:t>USABILITY &amp; SYSTEM EVALUATION (SUS)</a:t>
            </a:r>
          </a:p>
          <a:p>
            <a:pPr>
              <a:spcBef>
                <a:spcPts val="300"/>
              </a:spcBef>
              <a:defRPr sz="1350" b="1">
                <a:solidFill>
                  <a:srgbClr val="0F172A"/>
                </a:solidFill>
                <a:latin typeface="Calibri"/>
              </a:defRPr>
            </a:pPr>
            <a:r>
              <a:t>System Usability Scale (SUS) Evaluation</a:t>
            </a:r>
          </a:p>
          <a:p>
            <a:pPr>
              <a:spcBef>
                <a:spcPts val="500"/>
              </a:spcBef>
              <a:defRPr sz="950">
                <a:solidFill>
                  <a:srgbClr val="0F172A"/>
                </a:solidFill>
                <a:latin typeface="Calibri"/>
              </a:defRPr>
            </a:pPr>
            <a:r>
              <a:t>▪  Evaluated with 30 diverse university participants (TPOs, Faculty, Students).</a:t>
            </a:r>
          </a:p>
          <a:p>
            <a:pPr>
              <a:spcBef>
                <a:spcPts val="500"/>
              </a:spcBef>
              <a:defRPr sz="950">
                <a:solidFill>
                  <a:srgbClr val="0F172A"/>
                </a:solidFill>
                <a:latin typeface="Calibri"/>
              </a:defRPr>
            </a:pPr>
            <a:r>
              <a:t>▪  Achieved composite SUS score of 88.5 / 100 (Exceeds industry standard 68.0).</a:t>
            </a:r>
          </a:p>
          <a:p>
            <a:pPr>
              <a:spcBef>
                <a:spcPts val="500"/>
              </a:spcBef>
              <a:defRPr sz="950">
                <a:solidFill>
                  <a:srgbClr val="0F172A"/>
                </a:solidFill>
                <a:latin typeface="Calibri"/>
              </a:defRPr>
            </a:pPr>
            <a:r>
              <a:t>▪  Placement officers rated workflow efficiency at 9.4 / 10.</a:t>
            </a:r>
          </a:p>
          <a:p>
            <a:pPr>
              <a:spcBef>
                <a:spcPts val="500"/>
              </a:spcBef>
              <a:defRPr sz="950">
                <a:solidFill>
                  <a:srgbClr val="0F172A"/>
                </a:solidFill>
                <a:latin typeface="Calibri"/>
              </a:defRPr>
            </a:pPr>
            <a:r>
              <a:t>▪  Students reported 100% clarity in eligibility status and interview notifications.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F8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46520"/>
            <a:ext cx="10728655" cy="320040"/>
          </a:xfrm>
          <a:prstGeom prst="rect">
            <a:avLst/>
          </a:prstGeom>
          <a:noFill/>
        </p:spPr>
        <p:txBody>
          <a:bodyPr wrap="square">
            <a:spAutoFit/>
          </a:bodyPr>
          <a:lstStyle/>
          <a:p>
            <a:pPr algn="ctr">
              <a:defRPr sz="850">
                <a:solidFill>
                  <a:srgbClr val="64748B"/>
                </a:solidFill>
                <a:latin typeface="Calibri"/>
              </a:defRPr>
            </a:pPr>
            <a:r>
              <a:t>UdyamPath (उद्यमपथ) — Tier-1 Campus Placement Operating System  |  Rahul Sharma  |  Slide 16 of 20</a:t>
            </a:r>
          </a:p>
        </p:txBody>
      </p:sp>
      <p:sp>
        <p:nvSpPr>
          <p:cNvPr id="5" name="TextBox 4"/>
          <p:cNvSpPr txBox="1"/>
          <p:nvPr/>
        </p:nvSpPr>
        <p:spPr>
          <a:xfrm>
            <a:off x="731520" y="320040"/>
            <a:ext cx="10728655" cy="1097280"/>
          </a:xfrm>
          <a:prstGeom prst="rect">
            <a:avLst/>
          </a:prstGeom>
          <a:noFill/>
        </p:spPr>
        <p:txBody>
          <a:bodyPr wrap="square" lIns="0" tIns="0" rIns="0" bIns="0">
            <a:spAutoFit/>
          </a:bodyPr>
          <a:lstStyle/>
          <a:p>
            <a:pPr>
              <a:defRPr sz="950" b="1">
                <a:solidFill>
                  <a:srgbClr val="2F8F78"/>
                </a:solidFill>
                <a:latin typeface="Calibri"/>
              </a:defRPr>
            </a:pPr>
            <a:r>
              <a:t>DEVOPS &amp; CLOUD INFRASTRUCTURE</a:t>
            </a:r>
          </a:p>
          <a:p>
            <a:pPr>
              <a:spcBef>
                <a:spcPts val="200"/>
              </a:spcBef>
              <a:defRPr sz="2200" b="1">
                <a:solidFill>
                  <a:srgbClr val="0F172A"/>
                </a:solidFill>
                <a:latin typeface="Calibri"/>
              </a:defRPr>
            </a:pPr>
            <a:r>
              <a:t>DevOps, Containerization &amp; Automated CI/CD Pipeline</a:t>
            </a:r>
          </a:p>
          <a:p>
            <a:pPr>
              <a:spcBef>
                <a:spcPts val="200"/>
              </a:spcBef>
              <a:defRPr sz="1100">
                <a:solidFill>
                  <a:srgbClr val="64748B"/>
                </a:solidFill>
                <a:latin typeface="Calibri"/>
              </a:defRPr>
            </a:pPr>
            <a:r>
              <a:t>Production-grade multi-stage container builds and cloud deployment.</a:t>
            </a:r>
          </a:p>
        </p:txBody>
      </p:sp>
      <p:sp>
        <p:nvSpPr>
          <p:cNvPr id="6" name="Rounded Rectangle 5"/>
          <p:cNvSpPr/>
          <p:nvPr/>
        </p:nvSpPr>
        <p:spPr>
          <a:xfrm>
            <a:off x="731520" y="1645920"/>
            <a:ext cx="2468880" cy="2926080"/>
          </a:xfrm>
          <a:prstGeom prst="roundRect">
            <a:avLst/>
          </a:prstGeom>
          <a:solidFill>
            <a:srgbClr val="FFFFFF"/>
          </a:solidFill>
          <a:ln w="19050">
            <a:solidFill>
              <a:srgbClr val="2F8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45920"/>
            <a:ext cx="2468880" cy="502920"/>
          </a:xfrm>
          <a:prstGeom prst="rect">
            <a:avLst/>
          </a:prstGeom>
          <a:solidFill>
            <a:srgbClr val="2F8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737360"/>
            <a:ext cx="2468880" cy="365760"/>
          </a:xfrm>
          <a:prstGeom prst="rect">
            <a:avLst/>
          </a:prstGeom>
          <a:noFill/>
        </p:spPr>
        <p:txBody>
          <a:bodyPr wrap="none">
            <a:spAutoFit/>
          </a:bodyPr>
          <a:lstStyle/>
          <a:p>
            <a:pPr algn="ctr">
              <a:defRPr sz="950" b="1">
                <a:solidFill>
                  <a:srgbClr val="FFFFFF"/>
                </a:solidFill>
                <a:latin typeface="Calibri"/>
              </a:defRPr>
            </a:pPr>
            <a:r>
              <a:t>STAGE 1: SOURCE CONTROL</a:t>
            </a:r>
          </a:p>
        </p:txBody>
      </p:sp>
      <p:sp>
        <p:nvSpPr>
          <p:cNvPr id="9" name="TextBox 8"/>
          <p:cNvSpPr txBox="1"/>
          <p:nvPr/>
        </p:nvSpPr>
        <p:spPr>
          <a:xfrm>
            <a:off x="841248" y="2240280"/>
            <a:ext cx="2249424" cy="2194560"/>
          </a:xfrm>
          <a:prstGeom prst="rect">
            <a:avLst/>
          </a:prstGeom>
          <a:noFill/>
        </p:spPr>
        <p:txBody>
          <a:bodyPr wrap="square">
            <a:spAutoFit/>
          </a:bodyPr>
          <a:lstStyle/>
          <a:p>
            <a:pPr>
              <a:defRPr sz="1300" b="1">
                <a:solidFill>
                  <a:srgbClr val="0F172A"/>
                </a:solidFill>
                <a:latin typeface="Calibri"/>
              </a:defRPr>
            </a:pPr>
            <a:r>
              <a:t>GitHub Repository</a:t>
            </a:r>
          </a:p>
          <a:p>
            <a:pPr>
              <a:spcBef>
                <a:spcPts val="600"/>
              </a:spcBef>
              <a:defRPr sz="950">
                <a:solidFill>
                  <a:srgbClr val="64748B"/>
                </a:solidFill>
                <a:latin typeface="Calibri"/>
              </a:defRPr>
            </a:pPr>
            <a:r>
              <a:t>ESLint linting, Prettier formatting, and Git branch protection rules.</a:t>
            </a:r>
          </a:p>
        </p:txBody>
      </p:sp>
      <p:sp>
        <p:nvSpPr>
          <p:cNvPr id="10" name="Right Arrow 9"/>
          <p:cNvSpPr/>
          <p:nvPr/>
        </p:nvSpPr>
        <p:spPr>
          <a:xfrm>
            <a:off x="3246120" y="2834640"/>
            <a:ext cx="182880" cy="320040"/>
          </a:xfrm>
          <a:prstGeom prst="rightArrow">
            <a:avLst/>
          </a:prstGeom>
          <a:solidFill>
            <a:srgbClr val="2F8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474720" y="1645920"/>
            <a:ext cx="2468880" cy="2926080"/>
          </a:xfrm>
          <a:prstGeom prst="roundRect">
            <a:avLst/>
          </a:prstGeom>
          <a:solidFill>
            <a:srgbClr val="FFFFFF"/>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74720" y="1645920"/>
            <a:ext cx="2468880" cy="50292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74720" y="1737360"/>
            <a:ext cx="2468880" cy="365760"/>
          </a:xfrm>
          <a:prstGeom prst="rect">
            <a:avLst/>
          </a:prstGeom>
          <a:noFill/>
        </p:spPr>
        <p:txBody>
          <a:bodyPr wrap="none">
            <a:spAutoFit/>
          </a:bodyPr>
          <a:lstStyle/>
          <a:p>
            <a:pPr algn="ctr">
              <a:defRPr sz="950" b="1">
                <a:solidFill>
                  <a:srgbClr val="FFFFFF"/>
                </a:solidFill>
                <a:latin typeface="Calibri"/>
              </a:defRPr>
            </a:pPr>
            <a:r>
              <a:t>STAGE 2: AUTOMATED CI</a:t>
            </a:r>
          </a:p>
        </p:txBody>
      </p:sp>
      <p:sp>
        <p:nvSpPr>
          <p:cNvPr id="14" name="TextBox 13"/>
          <p:cNvSpPr txBox="1"/>
          <p:nvPr/>
        </p:nvSpPr>
        <p:spPr>
          <a:xfrm>
            <a:off x="3584448" y="2240280"/>
            <a:ext cx="2249424" cy="2194560"/>
          </a:xfrm>
          <a:prstGeom prst="rect">
            <a:avLst/>
          </a:prstGeom>
          <a:noFill/>
        </p:spPr>
        <p:txBody>
          <a:bodyPr wrap="square">
            <a:spAutoFit/>
          </a:bodyPr>
          <a:lstStyle/>
          <a:p>
            <a:pPr>
              <a:defRPr sz="1300" b="1">
                <a:solidFill>
                  <a:srgbClr val="0F172A"/>
                </a:solidFill>
                <a:latin typeface="Calibri"/>
              </a:defRPr>
            </a:pPr>
            <a:r>
              <a:t>GitHub Actions CI</a:t>
            </a:r>
          </a:p>
          <a:p>
            <a:pPr>
              <a:spcBef>
                <a:spcPts val="600"/>
              </a:spcBef>
              <a:defRPr sz="950">
                <a:solidFill>
                  <a:srgbClr val="64748B"/>
                </a:solidFill>
                <a:latin typeface="Calibri"/>
              </a:defRPr>
            </a:pPr>
            <a:r>
              <a:t>Automated backend unit tests, route validation, and syntax verification.</a:t>
            </a:r>
          </a:p>
        </p:txBody>
      </p:sp>
      <p:sp>
        <p:nvSpPr>
          <p:cNvPr id="15" name="Right Arrow 14"/>
          <p:cNvSpPr/>
          <p:nvPr/>
        </p:nvSpPr>
        <p:spPr>
          <a:xfrm>
            <a:off x="5989320" y="2834640"/>
            <a:ext cx="182880" cy="320040"/>
          </a:xfrm>
          <a:prstGeom prst="rightArrow">
            <a:avLst/>
          </a:prstGeom>
          <a:solidFill>
            <a:srgbClr val="2F8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17920" y="1645920"/>
            <a:ext cx="2468880" cy="2926080"/>
          </a:xfrm>
          <a:prstGeom prst="roundRect">
            <a:avLst/>
          </a:prstGeom>
          <a:solidFill>
            <a:srgbClr val="FFFFFF"/>
          </a:solidFill>
          <a:ln w="1905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17920" y="1645920"/>
            <a:ext cx="2468880" cy="502920"/>
          </a:xfrm>
          <a:prstGeom prst="rect">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17920" y="1737360"/>
            <a:ext cx="2468880" cy="365760"/>
          </a:xfrm>
          <a:prstGeom prst="rect">
            <a:avLst/>
          </a:prstGeom>
          <a:noFill/>
        </p:spPr>
        <p:txBody>
          <a:bodyPr wrap="none">
            <a:spAutoFit/>
          </a:bodyPr>
          <a:lstStyle/>
          <a:p>
            <a:pPr algn="ctr">
              <a:defRPr sz="950" b="1">
                <a:solidFill>
                  <a:srgbClr val="FFFFFF"/>
                </a:solidFill>
                <a:latin typeface="Calibri"/>
              </a:defRPr>
            </a:pPr>
            <a:r>
              <a:t>STAGE 3: CONTAINERIZATION</a:t>
            </a:r>
          </a:p>
        </p:txBody>
      </p:sp>
      <p:sp>
        <p:nvSpPr>
          <p:cNvPr id="19" name="TextBox 18"/>
          <p:cNvSpPr txBox="1"/>
          <p:nvPr/>
        </p:nvSpPr>
        <p:spPr>
          <a:xfrm>
            <a:off x="6327648" y="2240280"/>
            <a:ext cx="2249424" cy="2194560"/>
          </a:xfrm>
          <a:prstGeom prst="rect">
            <a:avLst/>
          </a:prstGeom>
          <a:noFill/>
        </p:spPr>
        <p:txBody>
          <a:bodyPr wrap="square">
            <a:spAutoFit/>
          </a:bodyPr>
          <a:lstStyle/>
          <a:p>
            <a:pPr>
              <a:defRPr sz="1300" b="1">
                <a:solidFill>
                  <a:srgbClr val="0F172A"/>
                </a:solidFill>
                <a:latin typeface="Calibri"/>
              </a:defRPr>
            </a:pPr>
            <a:r>
              <a:t>Docker Multi-Stage</a:t>
            </a:r>
          </a:p>
          <a:p>
            <a:pPr>
              <a:spcBef>
                <a:spcPts val="600"/>
              </a:spcBef>
              <a:defRPr sz="950">
                <a:solidFill>
                  <a:srgbClr val="64748B"/>
                </a:solidFill>
                <a:latin typeface="Calibri"/>
              </a:defRPr>
            </a:pPr>
            <a:r>
              <a:t>Alpine Linux lightweight containers (Backend: Node 20, Client: Nginx).</a:t>
            </a:r>
          </a:p>
        </p:txBody>
      </p:sp>
      <p:sp>
        <p:nvSpPr>
          <p:cNvPr id="20" name="Right Arrow 19"/>
          <p:cNvSpPr/>
          <p:nvPr/>
        </p:nvSpPr>
        <p:spPr>
          <a:xfrm>
            <a:off x="8732520" y="2834640"/>
            <a:ext cx="182880" cy="320040"/>
          </a:xfrm>
          <a:prstGeom prst="rightArrow">
            <a:avLst/>
          </a:prstGeom>
          <a:solidFill>
            <a:srgbClr val="2F8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961120" y="1645920"/>
            <a:ext cx="2468880" cy="292608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961120" y="1645920"/>
            <a:ext cx="2468880" cy="5029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61120" y="1737360"/>
            <a:ext cx="2468880" cy="365760"/>
          </a:xfrm>
          <a:prstGeom prst="rect">
            <a:avLst/>
          </a:prstGeom>
          <a:noFill/>
        </p:spPr>
        <p:txBody>
          <a:bodyPr wrap="none">
            <a:spAutoFit/>
          </a:bodyPr>
          <a:lstStyle/>
          <a:p>
            <a:pPr algn="ctr">
              <a:defRPr sz="950" b="1">
                <a:solidFill>
                  <a:srgbClr val="FFFFFF"/>
                </a:solidFill>
                <a:latin typeface="Calibri"/>
              </a:defRPr>
            </a:pPr>
            <a:r>
              <a:t>STAGE 4: CLOUD HOSTING</a:t>
            </a:r>
          </a:p>
        </p:txBody>
      </p:sp>
      <p:sp>
        <p:nvSpPr>
          <p:cNvPr id="24" name="TextBox 23"/>
          <p:cNvSpPr txBox="1"/>
          <p:nvPr/>
        </p:nvSpPr>
        <p:spPr>
          <a:xfrm>
            <a:off x="9070848" y="2240280"/>
            <a:ext cx="2249424" cy="2194560"/>
          </a:xfrm>
          <a:prstGeom prst="rect">
            <a:avLst/>
          </a:prstGeom>
          <a:noFill/>
        </p:spPr>
        <p:txBody>
          <a:bodyPr wrap="square">
            <a:spAutoFit/>
          </a:bodyPr>
          <a:lstStyle/>
          <a:p>
            <a:pPr>
              <a:defRPr sz="1300" b="1">
                <a:solidFill>
                  <a:srgbClr val="0F172A"/>
                </a:solidFill>
                <a:latin typeface="Calibri"/>
              </a:defRPr>
            </a:pPr>
            <a:r>
              <a:t>Cloud Production</a:t>
            </a:r>
          </a:p>
          <a:p>
            <a:pPr>
              <a:spcBef>
                <a:spcPts val="600"/>
              </a:spcBef>
              <a:defRPr sz="950">
                <a:solidFill>
                  <a:srgbClr val="64748B"/>
                </a:solidFill>
                <a:latin typeface="Calibri"/>
              </a:defRPr>
            </a:pPr>
            <a:r>
              <a:t>Vercel / Render cloud orchestration with MongoDB Atlas Cloud database.</a:t>
            </a:r>
          </a:p>
        </p:txBody>
      </p:sp>
      <p:sp>
        <p:nvSpPr>
          <p:cNvPr id="25" name="Rounded Rectangle 24"/>
          <p:cNvSpPr/>
          <p:nvPr/>
        </p:nvSpPr>
        <p:spPr>
          <a:xfrm>
            <a:off x="731520" y="4846320"/>
            <a:ext cx="10728655" cy="1280160"/>
          </a:xfrm>
          <a:prstGeom prst="roundRect">
            <a:avLst/>
          </a:prstGeom>
          <a:solidFill>
            <a:srgbClr val="E6F6F1"/>
          </a:solidFill>
          <a:ln w="12700">
            <a:solidFill>
              <a:srgbClr val="2F8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4937760"/>
            <a:ext cx="10362895" cy="1005840"/>
          </a:xfrm>
          <a:prstGeom prst="rect">
            <a:avLst/>
          </a:prstGeom>
          <a:noFill/>
        </p:spPr>
        <p:txBody>
          <a:bodyPr wrap="square">
            <a:spAutoFit/>
          </a:bodyPr>
          <a:lstStyle/>
          <a:p>
            <a:pPr>
              <a:defRPr sz="1000" b="1">
                <a:solidFill>
                  <a:srgbClr val="2F8F78"/>
                </a:solidFill>
                <a:latin typeface="Calibri"/>
              </a:defRPr>
            </a:pPr>
            <a:r>
              <a:t>1-COMMAND CONTAINERIZED ORCHESTRATION:  `docker-compose up --build`</a:t>
            </a:r>
          </a:p>
          <a:p>
            <a:pPr>
              <a:spcBef>
                <a:spcPts val="300"/>
              </a:spcBef>
              <a:defRPr sz="950">
                <a:solidFill>
                  <a:srgbClr val="0F172A"/>
                </a:solidFill>
                <a:latin typeface="Calibri"/>
              </a:defRPr>
            </a:pPr>
            <a:r>
              <a:t>UdyamPath includes complete Dockerfile and docker-compose.yml configurations, spinning up both client React frontend and Express backend services in isolated network bridges with seamless MongoDB Atlas connectivity.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F8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46520"/>
            <a:ext cx="10728655" cy="320040"/>
          </a:xfrm>
          <a:prstGeom prst="rect">
            <a:avLst/>
          </a:prstGeom>
          <a:noFill/>
        </p:spPr>
        <p:txBody>
          <a:bodyPr wrap="square">
            <a:spAutoFit/>
          </a:bodyPr>
          <a:lstStyle/>
          <a:p>
            <a:pPr algn="ctr">
              <a:defRPr sz="850">
                <a:solidFill>
                  <a:srgbClr val="64748B"/>
                </a:solidFill>
                <a:latin typeface="Calibri"/>
              </a:defRPr>
            </a:pPr>
            <a:r>
              <a:t>UdyamPath (उद्यमपथ) — Tier-1 Campus Placement Operating System  |  Rahul Sharma  |  Slide 17 of 20</a:t>
            </a:r>
          </a:p>
        </p:txBody>
      </p:sp>
      <p:sp>
        <p:nvSpPr>
          <p:cNvPr id="5" name="TextBox 4"/>
          <p:cNvSpPr txBox="1"/>
          <p:nvPr/>
        </p:nvSpPr>
        <p:spPr>
          <a:xfrm>
            <a:off x="731520" y="320040"/>
            <a:ext cx="10728655" cy="1097280"/>
          </a:xfrm>
          <a:prstGeom prst="rect">
            <a:avLst/>
          </a:prstGeom>
          <a:noFill/>
        </p:spPr>
        <p:txBody>
          <a:bodyPr wrap="square" lIns="0" tIns="0" rIns="0" bIns="0">
            <a:spAutoFit/>
          </a:bodyPr>
          <a:lstStyle/>
          <a:p>
            <a:pPr>
              <a:defRPr sz="950" b="1">
                <a:solidFill>
                  <a:srgbClr val="2F8F78"/>
                </a:solidFill>
                <a:latin typeface="Calibri"/>
              </a:defRPr>
            </a:pPr>
            <a:r>
              <a:t>LIVE EVALUATION GUIDE</a:t>
            </a:r>
          </a:p>
          <a:p>
            <a:pPr>
              <a:spcBef>
                <a:spcPts val="200"/>
              </a:spcBef>
              <a:defRPr sz="2200" b="1">
                <a:solidFill>
                  <a:srgbClr val="0F172A"/>
                </a:solidFill>
                <a:latin typeface="Calibri"/>
              </a:defRPr>
            </a:pPr>
            <a:r>
              <a:t>Evaluator Quick-Start: Pre-Seeded Demonstration Accounts</a:t>
            </a:r>
          </a:p>
          <a:p>
            <a:pPr>
              <a:spcBef>
                <a:spcPts val="200"/>
              </a:spcBef>
              <a:defRPr sz="1100">
                <a:solidFill>
                  <a:srgbClr val="64748B"/>
                </a:solidFill>
                <a:latin typeface="Calibri"/>
              </a:defRPr>
            </a:pPr>
            <a:r>
              <a:t>All accounts are pre-configured with active database seeds for instant defense review.</a:t>
            </a:r>
          </a:p>
        </p:txBody>
      </p:sp>
      <p:sp>
        <p:nvSpPr>
          <p:cNvPr id="6" name="Rounded Rectangle 5"/>
          <p:cNvSpPr/>
          <p:nvPr/>
        </p:nvSpPr>
        <p:spPr>
          <a:xfrm>
            <a:off x="731520" y="1645920"/>
            <a:ext cx="1993392" cy="4480560"/>
          </a:xfrm>
          <a:prstGeom prst="roundRect">
            <a:avLst/>
          </a:prstGeom>
          <a:solidFill>
            <a:srgbClr val="FFFFFF"/>
          </a:solidFill>
          <a:ln w="1905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45920"/>
            <a:ext cx="1993392" cy="502920"/>
          </a:xfrm>
          <a:prstGeom prst="rect">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737360"/>
            <a:ext cx="1993392" cy="365760"/>
          </a:xfrm>
          <a:prstGeom prst="rect">
            <a:avLst/>
          </a:prstGeom>
          <a:noFill/>
        </p:spPr>
        <p:txBody>
          <a:bodyPr wrap="none">
            <a:spAutoFit/>
          </a:bodyPr>
          <a:lstStyle/>
          <a:p>
            <a:pPr algn="ctr">
              <a:defRPr sz="900" b="1">
                <a:solidFill>
                  <a:srgbClr val="FFFFFF"/>
                </a:solidFill>
                <a:latin typeface="Calibri"/>
              </a:defRPr>
            </a:pPr>
            <a:r>
              <a:t>ADMIN / DIRECTOR</a:t>
            </a:r>
          </a:p>
        </p:txBody>
      </p:sp>
      <p:sp>
        <p:nvSpPr>
          <p:cNvPr id="9" name="TextBox 8"/>
          <p:cNvSpPr txBox="1"/>
          <p:nvPr/>
        </p:nvSpPr>
        <p:spPr>
          <a:xfrm>
            <a:off x="822960" y="2240280"/>
            <a:ext cx="1810512" cy="3749039"/>
          </a:xfrm>
          <a:prstGeom prst="rect">
            <a:avLst/>
          </a:prstGeom>
          <a:noFill/>
        </p:spPr>
        <p:txBody>
          <a:bodyPr wrap="square">
            <a:spAutoFit/>
          </a:bodyPr>
          <a:lstStyle/>
          <a:p>
            <a:pPr>
              <a:defRPr sz="850" b="1">
                <a:solidFill>
                  <a:srgbClr val="9333EA"/>
                </a:solidFill>
                <a:latin typeface="Calibri"/>
              </a:defRPr>
            </a:pPr>
            <a:r>
              <a:t>LOGIN EMAIL:</a:t>
            </a:r>
          </a:p>
          <a:p>
            <a:pPr>
              <a:spcBef>
                <a:spcPts val="100"/>
              </a:spcBef>
              <a:defRPr sz="900" b="1">
                <a:solidFill>
                  <a:srgbClr val="0F172A"/>
                </a:solidFill>
                <a:latin typeface="Calibri"/>
              </a:defRPr>
            </a:pPr>
            <a:r>
              <a:t>admin@udyampath.edu</a:t>
            </a:r>
          </a:p>
          <a:p>
            <a:pPr>
              <a:spcBef>
                <a:spcPts val="800"/>
              </a:spcBef>
              <a:defRPr sz="850" b="1">
                <a:solidFill>
                  <a:srgbClr val="9333EA"/>
                </a:solidFill>
                <a:latin typeface="Calibri"/>
              </a:defRPr>
            </a:pPr>
            <a:r>
              <a:t>PASSWORD:</a:t>
            </a:r>
          </a:p>
          <a:p>
            <a:pPr>
              <a:spcBef>
                <a:spcPts val="100"/>
              </a:spcBef>
              <a:defRPr sz="900" b="1">
                <a:solidFill>
                  <a:srgbClr val="0F172A"/>
                </a:solidFill>
                <a:latin typeface="Calibri"/>
              </a:defRPr>
            </a:pPr>
            <a:r>
              <a:t>password123</a:t>
            </a:r>
          </a:p>
          <a:p>
            <a:pPr>
              <a:spcBef>
                <a:spcPts val="1000"/>
              </a:spcBef>
              <a:defRPr sz="850" b="1">
                <a:solidFill>
                  <a:srgbClr val="64748B"/>
                </a:solidFill>
                <a:latin typeface="Calibri"/>
              </a:defRPr>
            </a:pPr>
            <a:r>
              <a:t>EVALUATION SCOPE:</a:t>
            </a:r>
          </a:p>
          <a:p>
            <a:pPr>
              <a:spcBef>
                <a:spcPts val="200"/>
              </a:spcBef>
              <a:defRPr sz="850">
                <a:solidFill>
                  <a:srgbClr val="0F172A"/>
                </a:solidFill>
                <a:latin typeface="Calibri"/>
              </a:defRPr>
            </a:pPr>
            <a:r>
              <a:t>Full institutional settings, system logs, user master records.</a:t>
            </a:r>
          </a:p>
        </p:txBody>
      </p:sp>
      <p:sp>
        <p:nvSpPr>
          <p:cNvPr id="10" name="Rounded Rectangle 9"/>
          <p:cNvSpPr/>
          <p:nvPr/>
        </p:nvSpPr>
        <p:spPr>
          <a:xfrm>
            <a:off x="2907792" y="1645920"/>
            <a:ext cx="1993392" cy="4480560"/>
          </a:xfrm>
          <a:prstGeom prst="roundRect">
            <a:avLst/>
          </a:prstGeom>
          <a:solidFill>
            <a:srgbClr val="FFFFFF"/>
          </a:solidFill>
          <a:ln w="19050">
            <a:solidFill>
              <a:srgbClr val="2F8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907792" y="1645920"/>
            <a:ext cx="1993392" cy="502920"/>
          </a:xfrm>
          <a:prstGeom prst="rect">
            <a:avLst/>
          </a:prstGeom>
          <a:solidFill>
            <a:srgbClr val="2F8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07792" y="1737360"/>
            <a:ext cx="1993392" cy="365760"/>
          </a:xfrm>
          <a:prstGeom prst="rect">
            <a:avLst/>
          </a:prstGeom>
          <a:noFill/>
        </p:spPr>
        <p:txBody>
          <a:bodyPr wrap="none">
            <a:spAutoFit/>
          </a:bodyPr>
          <a:lstStyle/>
          <a:p>
            <a:pPr algn="ctr">
              <a:defRPr sz="900" b="1">
                <a:solidFill>
                  <a:srgbClr val="FFFFFF"/>
                </a:solidFill>
                <a:latin typeface="Calibri"/>
              </a:defRPr>
            </a:pPr>
            <a:r>
              <a:t>TPO DIRECTOR</a:t>
            </a:r>
          </a:p>
        </p:txBody>
      </p:sp>
      <p:sp>
        <p:nvSpPr>
          <p:cNvPr id="13" name="TextBox 12"/>
          <p:cNvSpPr txBox="1"/>
          <p:nvPr/>
        </p:nvSpPr>
        <p:spPr>
          <a:xfrm>
            <a:off x="2999232" y="2240280"/>
            <a:ext cx="1810512" cy="3749039"/>
          </a:xfrm>
          <a:prstGeom prst="rect">
            <a:avLst/>
          </a:prstGeom>
          <a:noFill/>
        </p:spPr>
        <p:txBody>
          <a:bodyPr wrap="square">
            <a:spAutoFit/>
          </a:bodyPr>
          <a:lstStyle/>
          <a:p>
            <a:pPr>
              <a:defRPr sz="850" b="1">
                <a:solidFill>
                  <a:srgbClr val="2F8F78"/>
                </a:solidFill>
                <a:latin typeface="Calibri"/>
              </a:defRPr>
            </a:pPr>
            <a:r>
              <a:t>LOGIN EMAIL:</a:t>
            </a:r>
          </a:p>
          <a:p>
            <a:pPr>
              <a:spcBef>
                <a:spcPts val="100"/>
              </a:spcBef>
              <a:defRPr sz="900" b="1">
                <a:solidFill>
                  <a:srgbClr val="0F172A"/>
                </a:solidFill>
                <a:latin typeface="Calibri"/>
              </a:defRPr>
            </a:pPr>
            <a:r>
              <a:t>tpo@udyampath.edu</a:t>
            </a:r>
          </a:p>
          <a:p>
            <a:pPr>
              <a:spcBef>
                <a:spcPts val="800"/>
              </a:spcBef>
              <a:defRPr sz="850" b="1">
                <a:solidFill>
                  <a:srgbClr val="2F8F78"/>
                </a:solidFill>
                <a:latin typeface="Calibri"/>
              </a:defRPr>
            </a:pPr>
            <a:r>
              <a:t>PASSWORD:</a:t>
            </a:r>
          </a:p>
          <a:p>
            <a:pPr>
              <a:spcBef>
                <a:spcPts val="100"/>
              </a:spcBef>
              <a:defRPr sz="900" b="1">
                <a:solidFill>
                  <a:srgbClr val="0F172A"/>
                </a:solidFill>
                <a:latin typeface="Calibri"/>
              </a:defRPr>
            </a:pPr>
            <a:r>
              <a:t>password123</a:t>
            </a:r>
          </a:p>
          <a:p>
            <a:pPr>
              <a:spcBef>
                <a:spcPts val="1000"/>
              </a:spcBef>
              <a:defRPr sz="850" b="1">
                <a:solidFill>
                  <a:srgbClr val="64748B"/>
                </a:solidFill>
                <a:latin typeface="Calibri"/>
              </a:defRPr>
            </a:pPr>
            <a:r>
              <a:t>EVALUATION SCOPE:</a:t>
            </a:r>
          </a:p>
          <a:p>
            <a:pPr>
              <a:spcBef>
                <a:spcPts val="200"/>
              </a:spcBef>
              <a:defRPr sz="850">
                <a:solidFill>
                  <a:srgbClr val="0F172A"/>
                </a:solidFill>
                <a:latin typeface="Calibri"/>
              </a:defRPr>
            </a:pPr>
            <a:r>
              <a:t>Create drives, shortlist candidates, coordinate interviews, export NIRF.</a:t>
            </a:r>
          </a:p>
        </p:txBody>
      </p:sp>
      <p:sp>
        <p:nvSpPr>
          <p:cNvPr id="14" name="Rounded Rectangle 13"/>
          <p:cNvSpPr/>
          <p:nvPr/>
        </p:nvSpPr>
        <p:spPr>
          <a:xfrm>
            <a:off x="5084064" y="1645920"/>
            <a:ext cx="1993392" cy="448056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84064" y="1645920"/>
            <a:ext cx="1993392" cy="5029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84064" y="1737360"/>
            <a:ext cx="1993392" cy="365760"/>
          </a:xfrm>
          <a:prstGeom prst="rect">
            <a:avLst/>
          </a:prstGeom>
          <a:noFill/>
        </p:spPr>
        <p:txBody>
          <a:bodyPr wrap="none">
            <a:spAutoFit/>
          </a:bodyPr>
          <a:lstStyle/>
          <a:p>
            <a:pPr algn="ctr">
              <a:defRPr sz="900" b="1">
                <a:solidFill>
                  <a:srgbClr val="FFFFFF"/>
                </a:solidFill>
                <a:latin typeface="Calibri"/>
              </a:defRPr>
            </a:pPr>
            <a:r>
              <a:t>HOD CSE</a:t>
            </a:r>
          </a:p>
        </p:txBody>
      </p:sp>
      <p:sp>
        <p:nvSpPr>
          <p:cNvPr id="17" name="TextBox 16"/>
          <p:cNvSpPr txBox="1"/>
          <p:nvPr/>
        </p:nvSpPr>
        <p:spPr>
          <a:xfrm>
            <a:off x="5175504" y="2240280"/>
            <a:ext cx="1810512" cy="3749039"/>
          </a:xfrm>
          <a:prstGeom prst="rect">
            <a:avLst/>
          </a:prstGeom>
          <a:noFill/>
        </p:spPr>
        <p:txBody>
          <a:bodyPr wrap="square">
            <a:spAutoFit/>
          </a:bodyPr>
          <a:lstStyle/>
          <a:p>
            <a:pPr>
              <a:defRPr sz="850" b="1">
                <a:solidFill>
                  <a:srgbClr val="2563EB"/>
                </a:solidFill>
                <a:latin typeface="Calibri"/>
              </a:defRPr>
            </a:pPr>
            <a:r>
              <a:t>LOGIN EMAIL:</a:t>
            </a:r>
          </a:p>
          <a:p>
            <a:pPr>
              <a:spcBef>
                <a:spcPts val="100"/>
              </a:spcBef>
              <a:defRPr sz="900" b="1">
                <a:solidFill>
                  <a:srgbClr val="0F172A"/>
                </a:solidFill>
                <a:latin typeface="Calibri"/>
              </a:defRPr>
            </a:pPr>
            <a:r>
              <a:t>hod.cse@udyampath.edu</a:t>
            </a:r>
          </a:p>
          <a:p>
            <a:pPr>
              <a:spcBef>
                <a:spcPts val="800"/>
              </a:spcBef>
              <a:defRPr sz="850" b="1">
                <a:solidFill>
                  <a:srgbClr val="2563EB"/>
                </a:solidFill>
                <a:latin typeface="Calibri"/>
              </a:defRPr>
            </a:pPr>
            <a:r>
              <a:t>PASSWORD:</a:t>
            </a:r>
          </a:p>
          <a:p>
            <a:pPr>
              <a:spcBef>
                <a:spcPts val="100"/>
              </a:spcBef>
              <a:defRPr sz="900" b="1">
                <a:solidFill>
                  <a:srgbClr val="0F172A"/>
                </a:solidFill>
                <a:latin typeface="Calibri"/>
              </a:defRPr>
            </a:pPr>
            <a:r>
              <a:t>password123</a:t>
            </a:r>
          </a:p>
          <a:p>
            <a:pPr>
              <a:spcBef>
                <a:spcPts val="1000"/>
              </a:spcBef>
              <a:defRPr sz="850" b="1">
                <a:solidFill>
                  <a:srgbClr val="64748B"/>
                </a:solidFill>
                <a:latin typeface="Calibri"/>
              </a:defRPr>
            </a:pPr>
            <a:r>
              <a:t>EVALUATION SCOPE:</a:t>
            </a:r>
          </a:p>
          <a:p>
            <a:pPr>
              <a:spcBef>
                <a:spcPts val="200"/>
              </a:spcBef>
              <a:defRPr sz="850">
                <a:solidFill>
                  <a:srgbClr val="0F172A"/>
                </a:solidFill>
                <a:latin typeface="Calibri"/>
              </a:defRPr>
            </a:pPr>
            <a:r>
              <a:t>CSE branch candidate tracking, academic verification, statistics.</a:t>
            </a:r>
          </a:p>
        </p:txBody>
      </p:sp>
      <p:sp>
        <p:nvSpPr>
          <p:cNvPr id="18" name="Rounded Rectangle 17"/>
          <p:cNvSpPr/>
          <p:nvPr/>
        </p:nvSpPr>
        <p:spPr>
          <a:xfrm>
            <a:off x="7260336" y="1645920"/>
            <a:ext cx="1993392" cy="4480560"/>
          </a:xfrm>
          <a:prstGeom prst="roundRect">
            <a:avLst/>
          </a:prstGeom>
          <a:solidFill>
            <a:srgbClr val="FFFF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260336" y="1645920"/>
            <a:ext cx="1993392" cy="5029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60336" y="1737360"/>
            <a:ext cx="1993392" cy="365760"/>
          </a:xfrm>
          <a:prstGeom prst="rect">
            <a:avLst/>
          </a:prstGeom>
          <a:noFill/>
        </p:spPr>
        <p:txBody>
          <a:bodyPr wrap="none">
            <a:spAutoFit/>
          </a:bodyPr>
          <a:lstStyle/>
          <a:p>
            <a:pPr algn="ctr">
              <a:defRPr sz="900" b="1">
                <a:solidFill>
                  <a:srgbClr val="FFFFFF"/>
                </a:solidFill>
                <a:latin typeface="Calibri"/>
              </a:defRPr>
            </a:pPr>
            <a:r>
              <a:t>GOOGLE RECRUITER</a:t>
            </a:r>
          </a:p>
        </p:txBody>
      </p:sp>
      <p:sp>
        <p:nvSpPr>
          <p:cNvPr id="21" name="TextBox 20"/>
          <p:cNvSpPr txBox="1"/>
          <p:nvPr/>
        </p:nvSpPr>
        <p:spPr>
          <a:xfrm>
            <a:off x="7351776" y="2240280"/>
            <a:ext cx="1810512" cy="3749039"/>
          </a:xfrm>
          <a:prstGeom prst="rect">
            <a:avLst/>
          </a:prstGeom>
          <a:noFill/>
        </p:spPr>
        <p:txBody>
          <a:bodyPr wrap="square">
            <a:spAutoFit/>
          </a:bodyPr>
          <a:lstStyle/>
          <a:p>
            <a:pPr>
              <a:defRPr sz="850" b="1">
                <a:solidFill>
                  <a:srgbClr val="F59E0B"/>
                </a:solidFill>
                <a:latin typeface="Calibri"/>
              </a:defRPr>
            </a:pPr>
            <a:r>
              <a:t>LOGIN EMAIL:</a:t>
            </a:r>
          </a:p>
          <a:p>
            <a:pPr>
              <a:spcBef>
                <a:spcPts val="100"/>
              </a:spcBef>
              <a:defRPr sz="900" b="1">
                <a:solidFill>
                  <a:srgbClr val="0F172A"/>
                </a:solidFill>
                <a:latin typeface="Calibri"/>
              </a:defRPr>
            </a:pPr>
            <a:r>
              <a:t>recruiter.google@udyampath.edu</a:t>
            </a:r>
          </a:p>
          <a:p>
            <a:pPr>
              <a:spcBef>
                <a:spcPts val="800"/>
              </a:spcBef>
              <a:defRPr sz="850" b="1">
                <a:solidFill>
                  <a:srgbClr val="F59E0B"/>
                </a:solidFill>
                <a:latin typeface="Calibri"/>
              </a:defRPr>
            </a:pPr>
            <a:r>
              <a:t>PASSWORD:</a:t>
            </a:r>
          </a:p>
          <a:p>
            <a:pPr>
              <a:spcBef>
                <a:spcPts val="100"/>
              </a:spcBef>
              <a:defRPr sz="900" b="1">
                <a:solidFill>
                  <a:srgbClr val="0F172A"/>
                </a:solidFill>
                <a:latin typeface="Calibri"/>
              </a:defRPr>
            </a:pPr>
            <a:r>
              <a:t>password123</a:t>
            </a:r>
          </a:p>
          <a:p>
            <a:pPr>
              <a:spcBef>
                <a:spcPts val="1000"/>
              </a:spcBef>
              <a:defRPr sz="850" b="1">
                <a:solidFill>
                  <a:srgbClr val="64748B"/>
                </a:solidFill>
                <a:latin typeface="Calibri"/>
              </a:defRPr>
            </a:pPr>
            <a:r>
              <a:t>EVALUATION SCOPE:</a:t>
            </a:r>
          </a:p>
          <a:p>
            <a:pPr>
              <a:spcBef>
                <a:spcPts val="200"/>
              </a:spcBef>
              <a:defRPr sz="850">
                <a:solidFill>
                  <a:srgbClr val="0F172A"/>
                </a:solidFill>
                <a:latin typeface="Calibri"/>
              </a:defRPr>
            </a:pPr>
            <a:r>
              <a:t>Evaluate candidates, post Google SWE drives, release digital offers.</a:t>
            </a:r>
          </a:p>
        </p:txBody>
      </p:sp>
      <p:sp>
        <p:nvSpPr>
          <p:cNvPr id="22" name="Rounded Rectangle 21"/>
          <p:cNvSpPr/>
          <p:nvPr/>
        </p:nvSpPr>
        <p:spPr>
          <a:xfrm>
            <a:off x="9436608" y="1645920"/>
            <a:ext cx="1993392" cy="448056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436608" y="1645920"/>
            <a:ext cx="1993392" cy="5029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436608" y="1737360"/>
            <a:ext cx="1993392" cy="365760"/>
          </a:xfrm>
          <a:prstGeom prst="rect">
            <a:avLst/>
          </a:prstGeom>
          <a:noFill/>
        </p:spPr>
        <p:txBody>
          <a:bodyPr wrap="none">
            <a:spAutoFit/>
          </a:bodyPr>
          <a:lstStyle/>
          <a:p>
            <a:pPr algn="ctr">
              <a:defRPr sz="900" b="1">
                <a:solidFill>
                  <a:srgbClr val="FFFFFF"/>
                </a:solidFill>
                <a:latin typeface="Calibri"/>
              </a:defRPr>
            </a:pPr>
            <a:r>
              <a:t>STUDENT CANDIDATE</a:t>
            </a:r>
          </a:p>
        </p:txBody>
      </p:sp>
      <p:sp>
        <p:nvSpPr>
          <p:cNvPr id="25" name="TextBox 24"/>
          <p:cNvSpPr txBox="1"/>
          <p:nvPr/>
        </p:nvSpPr>
        <p:spPr>
          <a:xfrm>
            <a:off x="9528048" y="2240280"/>
            <a:ext cx="1810512" cy="3749039"/>
          </a:xfrm>
          <a:prstGeom prst="rect">
            <a:avLst/>
          </a:prstGeom>
          <a:noFill/>
        </p:spPr>
        <p:txBody>
          <a:bodyPr wrap="square">
            <a:spAutoFit/>
          </a:bodyPr>
          <a:lstStyle/>
          <a:p>
            <a:pPr>
              <a:defRPr sz="850" b="1">
                <a:solidFill>
                  <a:srgbClr val="10B981"/>
                </a:solidFill>
                <a:latin typeface="Calibri"/>
              </a:defRPr>
            </a:pPr>
            <a:r>
              <a:t>LOGIN EMAIL:</a:t>
            </a:r>
          </a:p>
          <a:p>
            <a:pPr>
              <a:spcBef>
                <a:spcPts val="100"/>
              </a:spcBef>
              <a:defRPr sz="900" b="1">
                <a:solidFill>
                  <a:srgbClr val="0F172A"/>
                </a:solidFill>
                <a:latin typeface="Calibri"/>
              </a:defRPr>
            </a:pPr>
            <a:r>
              <a:t>student1@udyampath.edu</a:t>
            </a:r>
          </a:p>
          <a:p>
            <a:pPr>
              <a:spcBef>
                <a:spcPts val="800"/>
              </a:spcBef>
              <a:defRPr sz="850" b="1">
                <a:solidFill>
                  <a:srgbClr val="10B981"/>
                </a:solidFill>
                <a:latin typeface="Calibri"/>
              </a:defRPr>
            </a:pPr>
            <a:r>
              <a:t>PASSWORD:</a:t>
            </a:r>
          </a:p>
          <a:p>
            <a:pPr>
              <a:spcBef>
                <a:spcPts val="100"/>
              </a:spcBef>
              <a:defRPr sz="900" b="1">
                <a:solidFill>
                  <a:srgbClr val="0F172A"/>
                </a:solidFill>
                <a:latin typeface="Calibri"/>
              </a:defRPr>
            </a:pPr>
            <a:r>
              <a:t>password123</a:t>
            </a:r>
          </a:p>
          <a:p>
            <a:pPr>
              <a:spcBef>
                <a:spcPts val="1000"/>
              </a:spcBef>
              <a:defRPr sz="850" b="1">
                <a:solidFill>
                  <a:srgbClr val="64748B"/>
                </a:solidFill>
                <a:latin typeface="Calibri"/>
              </a:defRPr>
            </a:pPr>
            <a:r>
              <a:t>EVALUATION SCOPE:</a:t>
            </a:r>
          </a:p>
          <a:p>
            <a:pPr>
              <a:spcBef>
                <a:spcPts val="200"/>
              </a:spcBef>
              <a:defRPr sz="850">
                <a:solidFill>
                  <a:srgbClr val="0F172A"/>
                </a:solidFill>
                <a:latin typeface="Calibri"/>
              </a:defRPr>
            </a:pPr>
            <a:r>
              <a:t>Discover drives, apply with 1 click, view interviews, accept offers.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F8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46520"/>
            <a:ext cx="10728655" cy="320040"/>
          </a:xfrm>
          <a:prstGeom prst="rect">
            <a:avLst/>
          </a:prstGeom>
          <a:noFill/>
        </p:spPr>
        <p:txBody>
          <a:bodyPr wrap="square">
            <a:spAutoFit/>
          </a:bodyPr>
          <a:lstStyle/>
          <a:p>
            <a:pPr algn="ctr">
              <a:defRPr sz="850">
                <a:solidFill>
                  <a:srgbClr val="64748B"/>
                </a:solidFill>
                <a:latin typeface="Calibri"/>
              </a:defRPr>
            </a:pPr>
            <a:r>
              <a:t>UdyamPath (उद्यमपथ) — Tier-1 Campus Placement Operating System  |  Rahul Sharma  |  Slide 18 of 20</a:t>
            </a:r>
          </a:p>
        </p:txBody>
      </p:sp>
      <p:sp>
        <p:nvSpPr>
          <p:cNvPr id="5" name="TextBox 4"/>
          <p:cNvSpPr txBox="1"/>
          <p:nvPr/>
        </p:nvSpPr>
        <p:spPr>
          <a:xfrm>
            <a:off x="731520" y="320040"/>
            <a:ext cx="10728655" cy="1097280"/>
          </a:xfrm>
          <a:prstGeom prst="rect">
            <a:avLst/>
          </a:prstGeom>
          <a:noFill/>
        </p:spPr>
        <p:txBody>
          <a:bodyPr wrap="square" lIns="0" tIns="0" rIns="0" bIns="0">
            <a:spAutoFit/>
          </a:bodyPr>
          <a:lstStyle/>
          <a:p>
            <a:pPr>
              <a:defRPr sz="950" b="1">
                <a:solidFill>
                  <a:srgbClr val="2F8F78"/>
                </a:solidFill>
                <a:latin typeface="Calibri"/>
              </a:defRPr>
            </a:pPr>
            <a:r>
              <a:t>BUSINESS IMPACT</a:t>
            </a:r>
          </a:p>
          <a:p>
            <a:pPr>
              <a:spcBef>
                <a:spcPts val="200"/>
              </a:spcBef>
              <a:defRPr sz="2200" b="1">
                <a:solidFill>
                  <a:srgbClr val="0F172A"/>
                </a:solidFill>
                <a:latin typeface="Calibri"/>
              </a:defRPr>
            </a:pPr>
            <a:r>
              <a:t>Institutional Impact &amp; Quantifiable Operational ROI</a:t>
            </a:r>
          </a:p>
          <a:p>
            <a:pPr>
              <a:spcBef>
                <a:spcPts val="200"/>
              </a:spcBef>
              <a:defRPr sz="1100">
                <a:solidFill>
                  <a:srgbClr val="64748B"/>
                </a:solidFill>
                <a:latin typeface="Calibri"/>
              </a:defRPr>
            </a:pPr>
            <a:r>
              <a:t>Transforming university placement operations through measurable efficiency gains.</a:t>
            </a:r>
          </a:p>
        </p:txBody>
      </p:sp>
      <p:sp>
        <p:nvSpPr>
          <p:cNvPr id="6" name="Rounded Rectangle 5"/>
          <p:cNvSpPr/>
          <p:nvPr/>
        </p:nvSpPr>
        <p:spPr>
          <a:xfrm>
            <a:off x="731520" y="1645920"/>
            <a:ext cx="2468880" cy="14630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1645920"/>
            <a:ext cx="2194560" cy="36576"/>
          </a:xfrm>
          <a:prstGeom prst="rect">
            <a:avLst/>
          </a:prstGeom>
          <a:solidFill>
            <a:srgbClr val="2F8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755648"/>
            <a:ext cx="2194560" cy="1280160"/>
          </a:xfrm>
          <a:prstGeom prst="rect">
            <a:avLst/>
          </a:prstGeom>
          <a:noFill/>
        </p:spPr>
        <p:txBody>
          <a:bodyPr wrap="square" lIns="0" tIns="0">
            <a:spAutoFit/>
          </a:bodyPr>
          <a:lstStyle/>
          <a:p>
            <a:pPr algn="ctr">
              <a:defRPr sz="2400" b="1">
                <a:solidFill>
                  <a:srgbClr val="2F8F78"/>
                </a:solidFill>
                <a:latin typeface="Calibri"/>
              </a:defRPr>
            </a:pPr>
            <a:r>
              <a:t>85%</a:t>
            </a:r>
          </a:p>
          <a:p>
            <a:pPr algn="ctr">
              <a:spcBef>
                <a:spcPts val="300"/>
              </a:spcBef>
              <a:defRPr sz="950" b="1">
                <a:solidFill>
                  <a:srgbClr val="0F172A"/>
                </a:solidFill>
                <a:latin typeface="Calibri"/>
              </a:defRPr>
            </a:pPr>
            <a:r>
              <a:t>TIME SAVED BY TPO</a:t>
            </a:r>
          </a:p>
          <a:p>
            <a:pPr algn="ctr">
              <a:spcBef>
                <a:spcPts val="200"/>
              </a:spcBef>
              <a:defRPr sz="850">
                <a:solidFill>
                  <a:srgbClr val="64748B"/>
                </a:solidFill>
                <a:latin typeface="Calibri"/>
              </a:defRPr>
            </a:pPr>
            <a:r>
              <a:t>Manual spreadsheet work reduced from 20 hrs/week to under 3 hrs.</a:t>
            </a:r>
          </a:p>
        </p:txBody>
      </p:sp>
      <p:sp>
        <p:nvSpPr>
          <p:cNvPr id="9" name="Rounded Rectangle 8"/>
          <p:cNvSpPr/>
          <p:nvPr/>
        </p:nvSpPr>
        <p:spPr>
          <a:xfrm>
            <a:off x="3474720" y="1645920"/>
            <a:ext cx="2468880" cy="14630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11880" y="1645920"/>
            <a:ext cx="2194560"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11880" y="1755648"/>
            <a:ext cx="2194560" cy="1280160"/>
          </a:xfrm>
          <a:prstGeom prst="rect">
            <a:avLst/>
          </a:prstGeom>
          <a:noFill/>
        </p:spPr>
        <p:txBody>
          <a:bodyPr wrap="square" lIns="0" tIns="0">
            <a:spAutoFit/>
          </a:bodyPr>
          <a:lstStyle/>
          <a:p>
            <a:pPr algn="ctr">
              <a:defRPr sz="2400" b="1">
                <a:solidFill>
                  <a:srgbClr val="10B981"/>
                </a:solidFill>
                <a:latin typeface="Calibri"/>
              </a:defRPr>
            </a:pPr>
            <a:r>
              <a:t>100%</a:t>
            </a:r>
          </a:p>
          <a:p>
            <a:pPr algn="ctr">
              <a:spcBef>
                <a:spcPts val="300"/>
              </a:spcBef>
              <a:defRPr sz="950" b="1">
                <a:solidFill>
                  <a:srgbClr val="0F172A"/>
                </a:solidFill>
                <a:latin typeface="Calibri"/>
              </a:defRPr>
            </a:pPr>
            <a:r>
              <a:t>FRAUD ELIMINATION</a:t>
            </a:r>
          </a:p>
          <a:p>
            <a:pPr algn="ctr">
              <a:spcBef>
                <a:spcPts val="200"/>
              </a:spcBef>
              <a:defRPr sz="850">
                <a:solidFill>
                  <a:srgbClr val="64748B"/>
                </a:solidFill>
                <a:latin typeface="Calibri"/>
              </a:defRPr>
            </a:pPr>
            <a:r>
              <a:t>Zero fake CGPA entries due to automated academic eligibility engine.</a:t>
            </a:r>
          </a:p>
        </p:txBody>
      </p:sp>
      <p:sp>
        <p:nvSpPr>
          <p:cNvPr id="12" name="Rounded Rectangle 11"/>
          <p:cNvSpPr/>
          <p:nvPr/>
        </p:nvSpPr>
        <p:spPr>
          <a:xfrm>
            <a:off x="6217920" y="1645920"/>
            <a:ext cx="2468880" cy="14630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1645920"/>
            <a:ext cx="219456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755648"/>
            <a:ext cx="2194560" cy="1280160"/>
          </a:xfrm>
          <a:prstGeom prst="rect">
            <a:avLst/>
          </a:prstGeom>
          <a:noFill/>
        </p:spPr>
        <p:txBody>
          <a:bodyPr wrap="square" lIns="0" tIns="0">
            <a:spAutoFit/>
          </a:bodyPr>
          <a:lstStyle/>
          <a:p>
            <a:pPr algn="ctr">
              <a:defRPr sz="2400" b="1">
                <a:solidFill>
                  <a:srgbClr val="6366F1"/>
                </a:solidFill>
                <a:latin typeface="Calibri"/>
              </a:defRPr>
            </a:pPr>
            <a:r>
              <a:t>3 Sec</a:t>
            </a:r>
          </a:p>
          <a:p>
            <a:pPr algn="ctr">
              <a:spcBef>
                <a:spcPts val="300"/>
              </a:spcBef>
              <a:defRPr sz="950" b="1">
                <a:solidFill>
                  <a:srgbClr val="0F172A"/>
                </a:solidFill>
                <a:latin typeface="Calibri"/>
              </a:defRPr>
            </a:pPr>
            <a:r>
              <a:t>NIRF TABLE 5.1 EXPORT</a:t>
            </a:r>
          </a:p>
          <a:p>
            <a:pPr algn="ctr">
              <a:spcBef>
                <a:spcPts val="200"/>
              </a:spcBef>
              <a:defRPr sz="850">
                <a:solidFill>
                  <a:srgbClr val="64748B"/>
                </a:solidFill>
                <a:latin typeface="Calibri"/>
              </a:defRPr>
            </a:pPr>
            <a:r>
              <a:t>Instant median salary calculation replacing 3 weeks of audit prep.</a:t>
            </a:r>
          </a:p>
        </p:txBody>
      </p:sp>
      <p:sp>
        <p:nvSpPr>
          <p:cNvPr id="15" name="Rounded Rectangle 14"/>
          <p:cNvSpPr/>
          <p:nvPr/>
        </p:nvSpPr>
        <p:spPr>
          <a:xfrm>
            <a:off x="8961120" y="1645920"/>
            <a:ext cx="2468880" cy="14630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098280" y="1645920"/>
            <a:ext cx="2194560" cy="36576"/>
          </a:xfrm>
          <a:prstGeom prst="rect">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98280" y="1755648"/>
            <a:ext cx="2194560" cy="1280160"/>
          </a:xfrm>
          <a:prstGeom prst="rect">
            <a:avLst/>
          </a:prstGeom>
          <a:noFill/>
        </p:spPr>
        <p:txBody>
          <a:bodyPr wrap="square" lIns="0" tIns="0">
            <a:spAutoFit/>
          </a:bodyPr>
          <a:lstStyle/>
          <a:p>
            <a:pPr algn="ctr">
              <a:defRPr sz="2400" b="1">
                <a:solidFill>
                  <a:srgbClr val="9333EA"/>
                </a:solidFill>
                <a:latin typeface="Calibri"/>
              </a:defRPr>
            </a:pPr>
            <a:r>
              <a:t>10,000+</a:t>
            </a:r>
          </a:p>
          <a:p>
            <a:pPr algn="ctr">
              <a:spcBef>
                <a:spcPts val="300"/>
              </a:spcBef>
              <a:defRPr sz="950" b="1">
                <a:solidFill>
                  <a:srgbClr val="0F172A"/>
                </a:solidFill>
                <a:latin typeface="Calibri"/>
              </a:defRPr>
            </a:pPr>
            <a:r>
              <a:t>CANDIDATE SCALABILITY</a:t>
            </a:r>
          </a:p>
          <a:p>
            <a:pPr algn="ctr">
              <a:spcBef>
                <a:spcPts val="200"/>
              </a:spcBef>
              <a:defRPr sz="850">
                <a:solidFill>
                  <a:srgbClr val="64748B"/>
                </a:solidFill>
                <a:latin typeface="Calibri"/>
              </a:defRPr>
            </a:pPr>
            <a:r>
              <a:t>Sub-50ms query response time across 10,000+ student applications.</a:t>
            </a:r>
          </a:p>
        </p:txBody>
      </p:sp>
      <p:sp>
        <p:nvSpPr>
          <p:cNvPr id="18" name="Rounded Rectangle 17"/>
          <p:cNvSpPr/>
          <p:nvPr/>
        </p:nvSpPr>
        <p:spPr>
          <a:xfrm>
            <a:off x="731520" y="3337560"/>
            <a:ext cx="5242255" cy="27889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1520" y="3337560"/>
            <a:ext cx="5242255" cy="7315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502152"/>
            <a:ext cx="4876495" cy="2514600"/>
          </a:xfrm>
          <a:prstGeom prst="rect">
            <a:avLst/>
          </a:prstGeom>
          <a:noFill/>
        </p:spPr>
        <p:txBody>
          <a:bodyPr wrap="square" lIns="0" tIns="0">
            <a:spAutoFit/>
          </a:bodyPr>
          <a:lstStyle/>
          <a:p>
            <a:pPr>
              <a:defRPr sz="850" b="1">
                <a:solidFill>
                  <a:srgbClr val="EF4444"/>
                </a:solidFill>
                <a:latin typeface="Calibri"/>
              </a:defRPr>
            </a:pPr>
            <a:r>
              <a:t>TRADITIONAL UNIVERSITY PLACEMENT MODEL</a:t>
            </a:r>
          </a:p>
          <a:p>
            <a:pPr>
              <a:spcBef>
                <a:spcPts val="300"/>
              </a:spcBef>
              <a:defRPr sz="1350" b="1">
                <a:solidFill>
                  <a:srgbClr val="0F172A"/>
                </a:solidFill>
                <a:latin typeface="Calibri"/>
              </a:defRPr>
            </a:pPr>
            <a:r>
              <a:t>Legacy Disjointed Approach (Pre-UdyamPath)</a:t>
            </a:r>
          </a:p>
          <a:p>
            <a:pPr>
              <a:spcBef>
                <a:spcPts val="500"/>
              </a:spcBef>
              <a:defRPr sz="950">
                <a:solidFill>
                  <a:srgbClr val="0F172A"/>
                </a:solidFill>
                <a:latin typeface="Calibri"/>
              </a:defRPr>
            </a:pPr>
            <a:r>
              <a:t>▪  Fragmented across 50+ unlinked Google Sheets and WhatsApp groups.</a:t>
            </a:r>
          </a:p>
          <a:p>
            <a:pPr>
              <a:spcBef>
                <a:spcPts val="500"/>
              </a:spcBef>
              <a:defRPr sz="950">
                <a:solidFill>
                  <a:srgbClr val="0F172A"/>
                </a:solidFill>
                <a:latin typeface="Calibri"/>
              </a:defRPr>
            </a:pPr>
            <a:r>
              <a:t>▪  High rate of recruiter dissatisfaction from unverified applicant backlogs.</a:t>
            </a:r>
          </a:p>
          <a:p>
            <a:pPr>
              <a:spcBef>
                <a:spcPts val="500"/>
              </a:spcBef>
              <a:defRPr sz="950">
                <a:solidFill>
                  <a:srgbClr val="0F172A"/>
                </a:solidFill>
                <a:latin typeface="Calibri"/>
              </a:defRPr>
            </a:pPr>
            <a:r>
              <a:t>▪  Weeks of chaotic panic during NIRF and NAAC accreditation deadlines.</a:t>
            </a:r>
          </a:p>
          <a:p>
            <a:pPr>
              <a:spcBef>
                <a:spcPts val="500"/>
              </a:spcBef>
              <a:defRPr sz="950">
                <a:solidFill>
                  <a:srgbClr val="0F172A"/>
                </a:solidFill>
                <a:latin typeface="Calibri"/>
              </a:defRPr>
            </a:pPr>
            <a:r>
              <a:t>▪  Zero transparency for students regarding application progress.</a:t>
            </a:r>
          </a:p>
        </p:txBody>
      </p:sp>
      <p:sp>
        <p:nvSpPr>
          <p:cNvPr id="21" name="Rounded Rectangle 20"/>
          <p:cNvSpPr/>
          <p:nvPr/>
        </p:nvSpPr>
        <p:spPr>
          <a:xfrm>
            <a:off x="6217920" y="3337560"/>
            <a:ext cx="5242255" cy="27889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17920" y="3337560"/>
            <a:ext cx="5242255"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0" y="3502152"/>
            <a:ext cx="4876495" cy="2514600"/>
          </a:xfrm>
          <a:prstGeom prst="rect">
            <a:avLst/>
          </a:prstGeom>
          <a:noFill/>
        </p:spPr>
        <p:txBody>
          <a:bodyPr wrap="square" lIns="0" tIns="0">
            <a:spAutoFit/>
          </a:bodyPr>
          <a:lstStyle/>
          <a:p>
            <a:pPr>
              <a:defRPr sz="850" b="1">
                <a:solidFill>
                  <a:srgbClr val="10B981"/>
                </a:solidFill>
                <a:latin typeface="Calibri"/>
              </a:defRPr>
            </a:pPr>
            <a:r>
              <a:t>THE UDYAMPATH INTEGRATED PARADIGM</a:t>
            </a:r>
          </a:p>
          <a:p>
            <a:pPr>
              <a:spcBef>
                <a:spcPts val="300"/>
              </a:spcBef>
              <a:defRPr sz="1350" b="1">
                <a:solidFill>
                  <a:srgbClr val="0F172A"/>
                </a:solidFill>
                <a:latin typeface="Calibri"/>
              </a:defRPr>
            </a:pPr>
            <a:r>
              <a:t>Modern Enterprise Operating System (Post-UdyamPath)</a:t>
            </a:r>
          </a:p>
          <a:p>
            <a:pPr>
              <a:spcBef>
                <a:spcPts val="500"/>
              </a:spcBef>
              <a:defRPr sz="950">
                <a:solidFill>
                  <a:srgbClr val="0F172A"/>
                </a:solidFill>
                <a:latin typeface="Calibri"/>
              </a:defRPr>
            </a:pPr>
            <a:r>
              <a:t>▪  Single unified database with synchronized real-time role portals.</a:t>
            </a:r>
          </a:p>
          <a:p>
            <a:pPr>
              <a:spcBef>
                <a:spcPts val="500"/>
              </a:spcBef>
              <a:defRPr sz="950">
                <a:solidFill>
                  <a:srgbClr val="0F172A"/>
                </a:solidFill>
                <a:latin typeface="Calibri"/>
              </a:defRPr>
            </a:pPr>
            <a:r>
              <a:t>▪  Algorithmic eligibility gate ensuring 100% verified applicant pools.</a:t>
            </a:r>
          </a:p>
          <a:p>
            <a:pPr>
              <a:spcBef>
                <a:spcPts val="500"/>
              </a:spcBef>
              <a:defRPr sz="950">
                <a:solidFill>
                  <a:srgbClr val="0F172A"/>
                </a:solidFill>
                <a:latin typeface="Calibri"/>
              </a:defRPr>
            </a:pPr>
            <a:r>
              <a:t>▪  Sub-second NIRF and NAAC accreditation compliance reporting.</a:t>
            </a:r>
          </a:p>
          <a:p>
            <a:pPr>
              <a:spcBef>
                <a:spcPts val="500"/>
              </a:spcBef>
              <a:defRPr sz="950">
                <a:solidFill>
                  <a:srgbClr val="0F172A"/>
                </a:solidFill>
                <a:latin typeface="Calibri"/>
              </a:defRPr>
            </a:pPr>
            <a:r>
              <a:t>▪  Complete transparency with instant stage tracking and digital offer acceptance.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F8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46520"/>
            <a:ext cx="10728655" cy="320040"/>
          </a:xfrm>
          <a:prstGeom prst="rect">
            <a:avLst/>
          </a:prstGeom>
          <a:noFill/>
        </p:spPr>
        <p:txBody>
          <a:bodyPr wrap="square">
            <a:spAutoFit/>
          </a:bodyPr>
          <a:lstStyle/>
          <a:p>
            <a:pPr algn="ctr">
              <a:defRPr sz="850">
                <a:solidFill>
                  <a:srgbClr val="64748B"/>
                </a:solidFill>
                <a:latin typeface="Calibri"/>
              </a:defRPr>
            </a:pPr>
            <a:r>
              <a:t>UdyamPath (उद्यमपथ) — Tier-1 Campus Placement Operating System  |  Rahul Sharma  |  Slide 19 of 20</a:t>
            </a:r>
          </a:p>
        </p:txBody>
      </p:sp>
      <p:sp>
        <p:nvSpPr>
          <p:cNvPr id="5" name="TextBox 4"/>
          <p:cNvSpPr txBox="1"/>
          <p:nvPr/>
        </p:nvSpPr>
        <p:spPr>
          <a:xfrm>
            <a:off x="731520" y="320040"/>
            <a:ext cx="10728655" cy="1097280"/>
          </a:xfrm>
          <a:prstGeom prst="rect">
            <a:avLst/>
          </a:prstGeom>
          <a:noFill/>
        </p:spPr>
        <p:txBody>
          <a:bodyPr wrap="square" lIns="0" tIns="0" rIns="0" bIns="0">
            <a:spAutoFit/>
          </a:bodyPr>
          <a:lstStyle/>
          <a:p>
            <a:pPr>
              <a:defRPr sz="950" b="1">
                <a:solidFill>
                  <a:srgbClr val="2F8F78"/>
                </a:solidFill>
                <a:latin typeface="Calibri"/>
              </a:defRPr>
            </a:pPr>
            <a:r>
              <a:t>TECHNOLOGICAL EVOLUTION</a:t>
            </a:r>
          </a:p>
          <a:p>
            <a:pPr>
              <a:spcBef>
                <a:spcPts val="200"/>
              </a:spcBef>
              <a:defRPr sz="2200" b="1">
                <a:solidFill>
                  <a:srgbClr val="0F172A"/>
                </a:solidFill>
                <a:latin typeface="Calibri"/>
              </a:defRPr>
            </a:pPr>
            <a:r>
              <a:t>Future Roadmap: AI Intelligence &amp; Blockchain Integration</a:t>
            </a:r>
          </a:p>
          <a:p>
            <a:pPr>
              <a:spcBef>
                <a:spcPts val="200"/>
              </a:spcBef>
              <a:defRPr sz="1100">
                <a:solidFill>
                  <a:srgbClr val="64748B"/>
                </a:solidFill>
                <a:latin typeface="Calibri"/>
              </a:defRPr>
            </a:pPr>
            <a:r>
              <a:t>Next-generation capabilities to further elevate university placement intelligence.</a:t>
            </a:r>
          </a:p>
        </p:txBody>
      </p:sp>
      <p:sp>
        <p:nvSpPr>
          <p:cNvPr id="6" name="Rounded Rectangle 5"/>
          <p:cNvSpPr/>
          <p:nvPr/>
        </p:nvSpPr>
        <p:spPr>
          <a:xfrm>
            <a:off x="731520" y="1645920"/>
            <a:ext cx="2468880" cy="4480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45920"/>
            <a:ext cx="2468880" cy="73152"/>
          </a:xfrm>
          <a:prstGeom prst="rect">
            <a:avLst/>
          </a:prstGeom>
          <a:solidFill>
            <a:srgbClr val="2F8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10512"/>
            <a:ext cx="2103120" cy="4206240"/>
          </a:xfrm>
          <a:prstGeom prst="rect">
            <a:avLst/>
          </a:prstGeom>
          <a:noFill/>
        </p:spPr>
        <p:txBody>
          <a:bodyPr wrap="square" lIns="0" tIns="0">
            <a:spAutoFit/>
          </a:bodyPr>
          <a:lstStyle/>
          <a:p>
            <a:pPr>
              <a:defRPr sz="850" b="1">
                <a:solidFill>
                  <a:srgbClr val="2F8F78"/>
                </a:solidFill>
                <a:latin typeface="Calibri"/>
              </a:defRPr>
            </a:pPr>
            <a:r>
              <a:t>ROADMAP PHASE 1</a:t>
            </a:r>
          </a:p>
          <a:p>
            <a:pPr>
              <a:spcBef>
                <a:spcPts val="300"/>
              </a:spcBef>
              <a:defRPr sz="1350" b="1">
                <a:solidFill>
                  <a:srgbClr val="0F172A"/>
                </a:solidFill>
                <a:latin typeface="Calibri"/>
              </a:defRPr>
            </a:pPr>
            <a:r>
              <a:t>AI NLP Resume Skill Matcher</a:t>
            </a:r>
          </a:p>
          <a:p>
            <a:pPr>
              <a:spcBef>
                <a:spcPts val="500"/>
              </a:spcBef>
              <a:defRPr sz="950">
                <a:solidFill>
                  <a:srgbClr val="0F172A"/>
                </a:solidFill>
                <a:latin typeface="Calibri"/>
              </a:defRPr>
            </a:pPr>
            <a:r>
              <a:t>▪  BERT-powered natural language processing parsing PDF resumes.</a:t>
            </a:r>
          </a:p>
          <a:p>
            <a:pPr>
              <a:spcBef>
                <a:spcPts val="500"/>
              </a:spcBef>
              <a:defRPr sz="950">
                <a:solidFill>
                  <a:srgbClr val="0F172A"/>
                </a:solidFill>
                <a:latin typeface="Calibri"/>
              </a:defRPr>
            </a:pPr>
            <a:r>
              <a:t>▪  Calculates semantic compatibility scores between student skills and job descriptions.</a:t>
            </a:r>
          </a:p>
          <a:p>
            <a:pPr>
              <a:spcBef>
                <a:spcPts val="500"/>
              </a:spcBef>
              <a:defRPr sz="950">
                <a:solidFill>
                  <a:srgbClr val="0F172A"/>
                </a:solidFill>
                <a:latin typeface="Calibri"/>
              </a:defRPr>
            </a:pPr>
            <a:r>
              <a:t>▪  Generates targeted skill gap recommendations for candidates.</a:t>
            </a:r>
          </a:p>
        </p:txBody>
      </p:sp>
      <p:sp>
        <p:nvSpPr>
          <p:cNvPr id="9" name="Rounded Rectangle 8"/>
          <p:cNvSpPr/>
          <p:nvPr/>
        </p:nvSpPr>
        <p:spPr>
          <a:xfrm>
            <a:off x="3474720" y="1645920"/>
            <a:ext cx="2468880" cy="4480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474720" y="1645920"/>
            <a:ext cx="2468880" cy="73152"/>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0" y="1810512"/>
            <a:ext cx="2103120" cy="4206240"/>
          </a:xfrm>
          <a:prstGeom prst="rect">
            <a:avLst/>
          </a:prstGeom>
          <a:noFill/>
        </p:spPr>
        <p:txBody>
          <a:bodyPr wrap="square" lIns="0" tIns="0">
            <a:spAutoFit/>
          </a:bodyPr>
          <a:lstStyle/>
          <a:p>
            <a:pPr>
              <a:defRPr sz="850" b="1">
                <a:solidFill>
                  <a:srgbClr val="6366F1"/>
                </a:solidFill>
                <a:latin typeface="Calibri"/>
              </a:defRPr>
            </a:pPr>
            <a:r>
              <a:t>ROADMAP PHASE 2</a:t>
            </a:r>
          </a:p>
          <a:p>
            <a:pPr>
              <a:spcBef>
                <a:spcPts val="300"/>
              </a:spcBef>
              <a:defRPr sz="1350" b="1">
                <a:solidFill>
                  <a:srgbClr val="0F172A"/>
                </a:solidFill>
                <a:latin typeface="Calibri"/>
              </a:defRPr>
            </a:pPr>
            <a:r>
              <a:t>XGBoost Placement Predictor</a:t>
            </a:r>
          </a:p>
          <a:p>
            <a:pPr>
              <a:spcBef>
                <a:spcPts val="500"/>
              </a:spcBef>
              <a:defRPr sz="950">
                <a:solidFill>
                  <a:srgbClr val="0F172A"/>
                </a:solidFill>
                <a:latin typeface="Calibri"/>
              </a:defRPr>
            </a:pPr>
            <a:r>
              <a:t>▪  Supervised machine learning model trained on historical placement datasets.</a:t>
            </a:r>
          </a:p>
          <a:p>
            <a:pPr>
              <a:spcBef>
                <a:spcPts val="500"/>
              </a:spcBef>
              <a:defRPr sz="950">
                <a:solidFill>
                  <a:srgbClr val="0F172A"/>
                </a:solidFill>
                <a:latin typeface="Calibri"/>
              </a:defRPr>
            </a:pPr>
            <a:r>
              <a:t>▪  Predicts candidate hiring probability based on CGPA, projects, and interview rounds.</a:t>
            </a:r>
          </a:p>
          <a:p>
            <a:pPr>
              <a:spcBef>
                <a:spcPts val="500"/>
              </a:spcBef>
              <a:defRPr sz="950">
                <a:solidFill>
                  <a:srgbClr val="0F172A"/>
                </a:solidFill>
                <a:latin typeface="Calibri"/>
              </a:defRPr>
            </a:pPr>
            <a:r>
              <a:t>▪  Empowers faculty to offer proactive mentoring to at-risk candidates.</a:t>
            </a:r>
          </a:p>
        </p:txBody>
      </p:sp>
      <p:sp>
        <p:nvSpPr>
          <p:cNvPr id="12" name="Rounded Rectangle 11"/>
          <p:cNvSpPr/>
          <p:nvPr/>
        </p:nvSpPr>
        <p:spPr>
          <a:xfrm>
            <a:off x="6217920" y="1645920"/>
            <a:ext cx="2468880" cy="4480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645920"/>
            <a:ext cx="2468880" cy="73152"/>
          </a:xfrm>
          <a:prstGeom prst="rect">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1810512"/>
            <a:ext cx="2103120" cy="4206240"/>
          </a:xfrm>
          <a:prstGeom prst="rect">
            <a:avLst/>
          </a:prstGeom>
          <a:noFill/>
        </p:spPr>
        <p:txBody>
          <a:bodyPr wrap="square" lIns="0" tIns="0">
            <a:spAutoFit/>
          </a:bodyPr>
          <a:lstStyle/>
          <a:p>
            <a:pPr>
              <a:defRPr sz="850" b="1">
                <a:solidFill>
                  <a:srgbClr val="9333EA"/>
                </a:solidFill>
                <a:latin typeface="Calibri"/>
              </a:defRPr>
            </a:pPr>
            <a:r>
              <a:t>ROADMAP PHASE 3</a:t>
            </a:r>
          </a:p>
          <a:p>
            <a:pPr>
              <a:spcBef>
                <a:spcPts val="300"/>
              </a:spcBef>
              <a:defRPr sz="1350" b="1">
                <a:solidFill>
                  <a:srgbClr val="0F172A"/>
                </a:solidFill>
                <a:latin typeface="Calibri"/>
              </a:defRPr>
            </a:pPr>
            <a:r>
              <a:t>Polygon Blockchain Credentials</a:t>
            </a:r>
          </a:p>
          <a:p>
            <a:pPr>
              <a:spcBef>
                <a:spcPts val="500"/>
              </a:spcBef>
              <a:defRPr sz="950">
                <a:solidFill>
                  <a:srgbClr val="0F172A"/>
                </a:solidFill>
                <a:latin typeface="Calibri"/>
              </a:defRPr>
            </a:pPr>
            <a:r>
              <a:t>▪  Cryptographic issuance of verified offer letters on Polygon blockchain.</a:t>
            </a:r>
          </a:p>
          <a:p>
            <a:pPr>
              <a:spcBef>
                <a:spcPts val="500"/>
              </a:spcBef>
              <a:defRPr sz="950">
                <a:solidFill>
                  <a:srgbClr val="0F172A"/>
                </a:solidFill>
                <a:latin typeface="Calibri"/>
              </a:defRPr>
            </a:pPr>
            <a:r>
              <a:t>▪  Zero-knowledge proof verification preventing counterfeit placement credentials.</a:t>
            </a:r>
          </a:p>
          <a:p>
            <a:pPr>
              <a:spcBef>
                <a:spcPts val="500"/>
              </a:spcBef>
              <a:defRPr sz="950">
                <a:solidFill>
                  <a:srgbClr val="0F172A"/>
                </a:solidFill>
                <a:latin typeface="Calibri"/>
              </a:defRPr>
            </a:pPr>
            <a:r>
              <a:t>▪  Permanent verifiable record for alumni career portfolios.</a:t>
            </a:r>
          </a:p>
        </p:txBody>
      </p:sp>
      <p:sp>
        <p:nvSpPr>
          <p:cNvPr id="15" name="Rounded Rectangle 14"/>
          <p:cNvSpPr/>
          <p:nvPr/>
        </p:nvSpPr>
        <p:spPr>
          <a:xfrm>
            <a:off x="8961120" y="1645920"/>
            <a:ext cx="2468880" cy="4480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961120" y="1645920"/>
            <a:ext cx="2468880"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0" y="1810512"/>
            <a:ext cx="2103120" cy="4206240"/>
          </a:xfrm>
          <a:prstGeom prst="rect">
            <a:avLst/>
          </a:prstGeom>
          <a:noFill/>
        </p:spPr>
        <p:txBody>
          <a:bodyPr wrap="square" lIns="0" tIns="0">
            <a:spAutoFit/>
          </a:bodyPr>
          <a:lstStyle/>
          <a:p>
            <a:pPr>
              <a:defRPr sz="850" b="1">
                <a:solidFill>
                  <a:srgbClr val="F59E0B"/>
                </a:solidFill>
                <a:latin typeface="Calibri"/>
              </a:defRPr>
            </a:pPr>
            <a:r>
              <a:t>ROADMAP PHASE 4</a:t>
            </a:r>
          </a:p>
          <a:p>
            <a:pPr>
              <a:spcBef>
                <a:spcPts val="300"/>
              </a:spcBef>
              <a:defRPr sz="1350" b="1">
                <a:solidFill>
                  <a:srgbClr val="0F172A"/>
                </a:solidFill>
                <a:latin typeface="Calibri"/>
              </a:defRPr>
            </a:pPr>
            <a:r>
              <a:t>Native Mobile Applications</a:t>
            </a:r>
          </a:p>
          <a:p>
            <a:pPr>
              <a:spcBef>
                <a:spcPts val="500"/>
              </a:spcBef>
              <a:defRPr sz="950">
                <a:solidFill>
                  <a:srgbClr val="0F172A"/>
                </a:solidFill>
                <a:latin typeface="Calibri"/>
              </a:defRPr>
            </a:pPr>
            <a:r>
              <a:t>▪  React Native cross-platform apps for iOS and Android.</a:t>
            </a:r>
          </a:p>
          <a:p>
            <a:pPr>
              <a:spcBef>
                <a:spcPts val="500"/>
              </a:spcBef>
              <a:defRPr sz="950">
                <a:solidFill>
                  <a:srgbClr val="0F172A"/>
                </a:solidFill>
                <a:latin typeface="Calibri"/>
              </a:defRPr>
            </a:pPr>
            <a:r>
              <a:t>▪  Native push notifications for urgent interview schedules and offer releases.</a:t>
            </a:r>
          </a:p>
          <a:p>
            <a:pPr>
              <a:spcBef>
                <a:spcPts val="500"/>
              </a:spcBef>
              <a:defRPr sz="950">
                <a:solidFill>
                  <a:srgbClr val="0F172A"/>
                </a:solidFill>
                <a:latin typeface="Calibri"/>
              </a:defRPr>
            </a:pPr>
            <a:r>
              <a:t>▪  Offline access to application history and placement calendars.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4ED8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46520"/>
            <a:ext cx="10728655" cy="320040"/>
          </a:xfrm>
          <a:prstGeom prst="rect">
            <a:avLst/>
          </a:prstGeom>
          <a:noFill/>
        </p:spPr>
        <p:txBody>
          <a:bodyPr wrap="square">
            <a:spAutoFit/>
          </a:bodyPr>
          <a:lstStyle/>
          <a:p>
            <a:pPr algn="ctr">
              <a:defRPr sz="850">
                <a:solidFill>
                  <a:srgbClr val="94A3B8"/>
                </a:solidFill>
                <a:latin typeface="Calibri"/>
              </a:defRPr>
            </a:pPr>
            <a:r>
              <a:t>UdyamPath (उद्यमपथ) — Tier-1 Campus Placement Operating System  |  Rahul Sharma  |  Slide 20 of 20</a:t>
            </a:r>
          </a:p>
        </p:txBody>
      </p:sp>
      <p:sp>
        <p:nvSpPr>
          <p:cNvPr id="5" name="Rounded Rectangle 4"/>
          <p:cNvSpPr/>
          <p:nvPr/>
        </p:nvSpPr>
        <p:spPr>
          <a:xfrm>
            <a:off x="1097280" y="914400"/>
            <a:ext cx="9997135" cy="5120640"/>
          </a:xfrm>
          <a:prstGeom prst="roundRect">
            <a:avLst/>
          </a:prstGeom>
          <a:solidFill>
            <a:srgbClr val="14203C"/>
          </a:solidFill>
          <a:ln w="19050">
            <a:solidFill>
              <a:srgbClr val="4ED8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463040" y="1188720"/>
            <a:ext cx="9265615" cy="2011680"/>
          </a:xfrm>
          <a:prstGeom prst="rect">
            <a:avLst/>
          </a:prstGeom>
          <a:noFill/>
        </p:spPr>
        <p:txBody>
          <a:bodyPr wrap="square">
            <a:spAutoFit/>
          </a:bodyPr>
          <a:lstStyle/>
          <a:p>
            <a:pPr>
              <a:defRPr sz="1000" b="1">
                <a:solidFill>
                  <a:srgbClr val="4ED8B6"/>
                </a:solidFill>
                <a:latin typeface="Calibri"/>
              </a:defRPr>
            </a:pPr>
            <a:r>
              <a:t>PROJECT SUMMARY &amp; DEFENSE CONCLUDED</a:t>
            </a:r>
          </a:p>
          <a:p>
            <a:pPr>
              <a:spcBef>
                <a:spcPts val="300"/>
              </a:spcBef>
              <a:defRPr sz="3000" b="1">
                <a:solidFill>
                  <a:srgbClr val="FFFFFF"/>
                </a:solidFill>
                <a:latin typeface="Calibri"/>
              </a:defRPr>
            </a:pPr>
            <a:r>
              <a:t>UdyamPath (उद्यमपथ) — Mission Accomplished</a:t>
            </a:r>
          </a:p>
          <a:p>
            <a:pPr>
              <a:spcBef>
                <a:spcPts val="600"/>
              </a:spcBef>
              <a:defRPr sz="1200">
                <a:solidFill>
                  <a:srgbClr val="94A3B8"/>
                </a:solidFill>
                <a:latin typeface="Calibri"/>
              </a:defRPr>
            </a:pPr>
            <a:r>
              <a:t>A robust, production-ready full-stack MERN operating system that modernizes campus hiring, enforces academic integrity, and delivers effortless accreditation readiness.</a:t>
            </a:r>
          </a:p>
        </p:txBody>
      </p:sp>
      <p:sp>
        <p:nvSpPr>
          <p:cNvPr id="7" name="Rounded Rectangle 6"/>
          <p:cNvSpPr/>
          <p:nvPr/>
        </p:nvSpPr>
        <p:spPr>
          <a:xfrm>
            <a:off x="1463040" y="3474720"/>
            <a:ext cx="2834640" cy="2194560"/>
          </a:xfrm>
          <a:prstGeom prst="roundRect">
            <a:avLst/>
          </a:prstGeom>
          <a:solidFill>
            <a:srgbClr val="1C2C50"/>
          </a:solidFill>
          <a:ln w="15240">
            <a:solidFill>
              <a:srgbClr val="2F8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00200" y="3611880"/>
            <a:ext cx="2560320" cy="1920240"/>
          </a:xfrm>
          <a:prstGeom prst="rect">
            <a:avLst/>
          </a:prstGeom>
          <a:noFill/>
        </p:spPr>
        <p:txBody>
          <a:bodyPr wrap="square">
            <a:spAutoFit/>
          </a:bodyPr>
          <a:lstStyle/>
          <a:p>
            <a:pPr>
              <a:defRPr sz="900" b="1">
                <a:solidFill>
                  <a:srgbClr val="2F8F78"/>
                </a:solidFill>
                <a:latin typeface="Calibri"/>
              </a:defRPr>
            </a:pPr>
            <a:r>
              <a:t>OPEN-SOURCE REPOSITORY</a:t>
            </a:r>
          </a:p>
          <a:p>
            <a:pPr>
              <a:spcBef>
                <a:spcPts val="300"/>
              </a:spcBef>
              <a:defRPr sz="1200" b="1">
                <a:solidFill>
                  <a:srgbClr val="FFFFFF"/>
                </a:solidFill>
                <a:latin typeface="Calibri"/>
              </a:defRPr>
            </a:pPr>
            <a:r>
              <a:t>https://github.com/rahuljiara/UdyamPath</a:t>
            </a:r>
          </a:p>
          <a:p>
            <a:pPr>
              <a:spcBef>
                <a:spcPts val="600"/>
              </a:spcBef>
              <a:defRPr sz="900">
                <a:solidFill>
                  <a:srgbClr val="94A3B8"/>
                </a:solidFill>
                <a:latin typeface="Calibri"/>
              </a:defRPr>
            </a:pPr>
            <a:r>
              <a:t>Full source code, React 18 client, Express backend, and Docker compose files.</a:t>
            </a:r>
          </a:p>
        </p:txBody>
      </p:sp>
      <p:sp>
        <p:nvSpPr>
          <p:cNvPr id="9" name="Rounded Rectangle 8"/>
          <p:cNvSpPr/>
          <p:nvPr/>
        </p:nvSpPr>
        <p:spPr>
          <a:xfrm>
            <a:off x="4663440" y="3474720"/>
            <a:ext cx="2834640" cy="2194560"/>
          </a:xfrm>
          <a:prstGeom prst="roundRect">
            <a:avLst/>
          </a:prstGeom>
          <a:solidFill>
            <a:srgbClr val="1C2C50"/>
          </a:solidFill>
          <a:ln w="1524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00600" y="3611880"/>
            <a:ext cx="2560320" cy="1920240"/>
          </a:xfrm>
          <a:prstGeom prst="rect">
            <a:avLst/>
          </a:prstGeom>
          <a:noFill/>
        </p:spPr>
        <p:txBody>
          <a:bodyPr wrap="square">
            <a:spAutoFit/>
          </a:bodyPr>
          <a:lstStyle/>
          <a:p>
            <a:pPr>
              <a:defRPr sz="900" b="1">
                <a:solidFill>
                  <a:srgbClr val="6366F1"/>
                </a:solidFill>
                <a:latin typeface="Calibri"/>
              </a:defRPr>
            </a:pPr>
            <a:r>
              <a:t>COMPLETE DOCS SUITE</a:t>
            </a:r>
          </a:p>
          <a:p>
            <a:pPr>
              <a:spcBef>
                <a:spcPts val="300"/>
              </a:spcBef>
              <a:defRPr sz="1200" b="1">
                <a:solidFill>
                  <a:srgbClr val="FFFFFF"/>
                </a:solidFill>
                <a:latin typeface="Calibri"/>
              </a:defRPr>
            </a:pPr>
            <a:r>
              <a:t>10 Comprehensive Documents</a:t>
            </a:r>
          </a:p>
          <a:p>
            <a:pPr>
              <a:spcBef>
                <a:spcPts val="600"/>
              </a:spcBef>
              <a:defRPr sz="900">
                <a:solidFill>
                  <a:srgbClr val="94A3B8"/>
                </a:solidFill>
                <a:latin typeface="Calibri"/>
              </a:defRPr>
            </a:pPr>
            <a:r>
              <a:t>Complete SRS, System Architecture, Database Design, API Docs, and 35+ Page IEEE Report.</a:t>
            </a:r>
          </a:p>
        </p:txBody>
      </p:sp>
      <p:sp>
        <p:nvSpPr>
          <p:cNvPr id="11" name="Rounded Rectangle 10"/>
          <p:cNvSpPr/>
          <p:nvPr/>
        </p:nvSpPr>
        <p:spPr>
          <a:xfrm>
            <a:off x="7863840" y="3474720"/>
            <a:ext cx="2834640" cy="2194560"/>
          </a:xfrm>
          <a:prstGeom prst="roundRect">
            <a:avLst/>
          </a:prstGeom>
          <a:solidFill>
            <a:srgbClr val="1C2C50"/>
          </a:solidFill>
          <a:ln w="15240">
            <a:solidFill>
              <a:srgbClr val="4ED8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01000" y="3611880"/>
            <a:ext cx="2560320" cy="1920240"/>
          </a:xfrm>
          <a:prstGeom prst="rect">
            <a:avLst/>
          </a:prstGeom>
          <a:noFill/>
        </p:spPr>
        <p:txBody>
          <a:bodyPr wrap="square">
            <a:spAutoFit/>
          </a:bodyPr>
          <a:lstStyle/>
          <a:p>
            <a:pPr>
              <a:defRPr sz="900" b="1">
                <a:solidFill>
                  <a:srgbClr val="4ED8B6"/>
                </a:solidFill>
                <a:latin typeface="Calibri"/>
              </a:defRPr>
            </a:pPr>
            <a:r>
              <a:t>FLOOR OPEN FOR Q&amp;A</a:t>
            </a:r>
          </a:p>
          <a:p>
            <a:pPr>
              <a:spcBef>
                <a:spcPts val="300"/>
              </a:spcBef>
              <a:defRPr sz="1200" b="1">
                <a:solidFill>
                  <a:srgbClr val="FFFFFF"/>
                </a:solidFill>
                <a:latin typeface="Calibri"/>
              </a:defRPr>
            </a:pPr>
            <a:r>
              <a:t>Live Interactive Defense</a:t>
            </a:r>
          </a:p>
          <a:p>
            <a:pPr>
              <a:spcBef>
                <a:spcPts val="600"/>
              </a:spcBef>
              <a:defRPr sz="900">
                <a:solidFill>
                  <a:srgbClr val="94A3B8"/>
                </a:solidFill>
                <a:latin typeface="Calibri"/>
              </a:defRPr>
            </a:pPr>
            <a:r>
              <a:t>Ready for live system walkthrough, code inspection, and evaluator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